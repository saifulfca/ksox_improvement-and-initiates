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04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1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480" y="6221307"/>
            <a:ext cx="1645920" cy="283464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K-SOX Improvements &amp; Initiatives (1/2)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200025"/>
            <a:ext cx="73152" cy="59055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182880"/>
            <a:ext cx="10800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K-SOX: Achievements, Initiatives &amp; Way Forward</a:t>
            </a:r>
          </a:p>
        </p:txBody>
      </p:sp>
      <p:sp>
        <p:nvSpPr>
          <p:cNvPr id="12" name="Sub"/>
          <p:cNvSpPr txBox="1"/>
          <p:nvPr/>
        </p:nvSpPr>
        <p:spPr>
          <a:xfrm>
            <a:off x="640080" y="586740"/>
            <a:ext cx="1080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1200" i="1" dirty="0">
                <a:solidFill>
                  <a:srgbClr val="5A6470"/>
                </a:solidFill>
                <a:latin typeface="Calibri"/>
              </a:rPr>
              <a:t>In-House Capability, Process, Controls &amp; Governance   |   Youngone Bangladesh</a:t>
            </a:r>
          </a:p>
        </p:txBody>
      </p:sp>
      <p:sp>
        <p:nvSpPr>
          <p:cNvPr id="20" name="Hdr20"/>
          <p:cNvSpPr txBox="1"/>
          <p:nvPr/>
        </p:nvSpPr>
        <p:spPr>
          <a:xfrm>
            <a:off x="457200" y="980000"/>
            <a:ext cx="5524500" cy="3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In-House K-SOX Assessment &amp; Capability</a:t>
            </a:r>
          </a:p>
        </p:txBody>
      </p:sp>
      <p:sp>
        <p:nvSpPr>
          <p:cNvPr id="21" name="Body21"/>
          <p:cNvSpPr txBox="1"/>
          <p:nvPr/>
        </p:nvSpPr>
        <p:spPr>
          <a:xfrm>
            <a:off x="457200" y="1320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100% in-house K-SOX assessment from 2025 (previously EY India, Deloitte India, Nexia Korea)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Full internal capability for K-SOX control testing &amp; gap remediation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K-SOX performance embedded in year-end evaluation template (from 2026)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Significantly reduced external-audit dependency - cost savings &amp; faster closing</a:t>
            </a:r>
          </a:p>
        </p:txBody>
      </p:sp>
      <p:sp>
        <p:nvSpPr>
          <p:cNvPr id="30" name="Hdr30"/>
          <p:cNvSpPr txBox="1"/>
          <p:nvPr/>
        </p:nvSpPr>
        <p:spPr>
          <a:xfrm>
            <a:off x="6210300" y="980000"/>
            <a:ext cx="5524500" cy="3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Segregation of Duties &amp; Process Controls</a:t>
            </a:r>
          </a:p>
        </p:txBody>
      </p:sp>
      <p:sp>
        <p:nvSpPr>
          <p:cNvPr id="31" name="Body31"/>
          <p:cNvSpPr txBox="1"/>
          <p:nvPr/>
        </p:nvSpPr>
        <p:spPr>
          <a:xfrm>
            <a:off x="6210300" y="1320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JV drafter-approver segregation of duties in SAP &amp; e-Accounting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GIT provision now recognises Incoterm, not just warehouse receipt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HRMS Maker/Drafter controls for onboarding &amp; attendance correction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Salary &amp; tax computation brought fully in-house (previously 3rd-party via Excel)</a:t>
            </a:r>
          </a:p>
        </p:txBody>
      </p:sp>
      <p:sp>
        <p:nvSpPr>
          <p:cNvPr id="40" name="Hdr40"/>
          <p:cNvSpPr txBox="1"/>
          <p:nvPr/>
        </p:nvSpPr>
        <p:spPr>
          <a:xfrm>
            <a:off x="457200" y="3805000"/>
            <a:ext cx="5524500" cy="34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Policy Roll-out &amp; Governance</a:t>
            </a:r>
          </a:p>
        </p:txBody>
      </p:sp>
      <p:sp>
        <p:nvSpPr>
          <p:cNvPr id="41" name="Body41"/>
          <p:cNvSpPr txBox="1"/>
          <p:nvPr/>
        </p:nvSpPr>
        <p:spPr>
          <a:xfrm>
            <a:off x="457200" y="4145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New Fixed Asset policy aligned with IAS &amp; accounting conventions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Cash &amp; Bank management policy rolled out across BD entities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Inventory policy &amp; leftover-declaration policy formulated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100% inventory coverage with formal approval workflow for inventory reports</a:t>
            </a:r>
          </a:p>
        </p:txBody>
      </p:sp>
      <p:sp>
        <p:nvSpPr>
          <p:cNvPr id="50" name="Hdr50"/>
          <p:cNvSpPr txBox="1"/>
          <p:nvPr/>
        </p:nvSpPr>
        <p:spPr>
          <a:xfrm>
            <a:off x="6210300" y="3805000"/>
            <a:ext cx="5524500" cy="340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/>
              </a:rPr>
              <a:t>Impact, Open Issues &amp; Way Forward</a:t>
            </a:r>
          </a:p>
        </p:txBody>
      </p:sp>
      <p:sp>
        <p:nvSpPr>
          <p:cNvPr id="51" name="Body51"/>
          <p:cNvSpPr txBox="1"/>
          <p:nvPr/>
        </p:nvSpPr>
        <p:spPr>
          <a:xfrm>
            <a:off x="6210300" y="4145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SAP records cleaned &amp; remediated across KPP, YCL, TSL &amp; KSL entities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Stronger internal controls &amp; improved audit readiness across BD entities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Open focus: continuous K-SOX gap monitoring &amp; control automation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Next: sustain 100% in-house assessment; extend control coverage across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480" y="6221307"/>
            <a:ext cx="1645920" cy="283464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Fixed Asset Physical Verification (2/2)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200025"/>
            <a:ext cx="73152" cy="59055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182880"/>
            <a:ext cx="10800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Fixed Asset Physical Verification (FA-PV) &amp; AMS</a:t>
            </a:r>
          </a:p>
        </p:txBody>
      </p:sp>
      <p:sp>
        <p:nvSpPr>
          <p:cNvPr id="12" name="Sub"/>
          <p:cNvSpPr txBox="1"/>
          <p:nvPr/>
        </p:nvSpPr>
        <p:spPr>
          <a:xfrm>
            <a:off x="640080" y="586740"/>
            <a:ext cx="1080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1200" i="1" dirty="0">
                <a:solidFill>
                  <a:srgbClr val="5A6470"/>
                </a:solidFill>
                <a:latin typeface="Calibri"/>
              </a:rPr>
              <a:t>In-House Asset Management System - Counting, Verification &amp; Reconciliation   |   Youngone Bangladesh</a:t>
            </a:r>
          </a:p>
        </p:txBody>
      </p:sp>
      <p:sp>
        <p:nvSpPr>
          <p:cNvPr id="20" name="Hdr20"/>
          <p:cNvSpPr txBox="1"/>
          <p:nvPr/>
        </p:nvSpPr>
        <p:spPr>
          <a:xfrm>
            <a:off x="457200" y="980000"/>
            <a:ext cx="5524500" cy="3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In-House Asset Management System (AMS)</a:t>
            </a:r>
          </a:p>
        </p:txBody>
      </p:sp>
      <p:sp>
        <p:nvSpPr>
          <p:cNvPr id="21" name="Body21"/>
          <p:cNvSpPr txBox="1"/>
          <p:nvPr/>
        </p:nvSpPr>
        <p:spPr>
          <a:xfrm>
            <a:off x="457200" y="1320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In-house AMS developed &amp; rolled out in 2025 to count, verify &amp; track machines across all BD entities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Robust tracking, counting, verification &amp; reconciliation of fixed assets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Digitised FA physical verification, replacing manual spreadsheet-based processes</a:t>
            </a:r>
          </a:p>
        </p:txBody>
      </p:sp>
      <p:sp>
        <p:nvSpPr>
          <p:cNvPr id="30" name="Hdr30"/>
          <p:cNvSpPr txBox="1"/>
          <p:nvPr/>
        </p:nvSpPr>
        <p:spPr>
          <a:xfrm>
            <a:off x="6210300" y="980000"/>
            <a:ext cx="5524500" cy="3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Scope Expansion &amp; Adoption</a:t>
            </a:r>
          </a:p>
        </p:txBody>
      </p:sp>
      <p:sp>
        <p:nvSpPr>
          <p:cNvPr id="31" name="Body31"/>
          <p:cNvSpPr txBox="1"/>
          <p:nvPr/>
        </p:nvSpPr>
        <p:spPr>
          <a:xfrm>
            <a:off x="6210300" y="1320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2026: AMS expanded to furniture, fixtures &amp; office equipment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Adopted in other markets - India &amp; Vietnam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Established as the standard FA-PV tool, widely adopted across entities</a:t>
            </a:r>
          </a:p>
        </p:txBody>
      </p:sp>
      <p:sp>
        <p:nvSpPr>
          <p:cNvPr id="40" name="Hdr40"/>
          <p:cNvSpPr txBox="1"/>
          <p:nvPr/>
        </p:nvSpPr>
        <p:spPr>
          <a:xfrm>
            <a:off x="457200" y="3805000"/>
            <a:ext cx="5524500" cy="34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In-House FA Verification Capability</a:t>
            </a:r>
          </a:p>
        </p:txBody>
      </p:sp>
      <p:sp>
        <p:nvSpPr>
          <p:cNvPr id="41" name="Body41"/>
          <p:cNvSpPr txBox="1"/>
          <p:nvPr/>
        </p:nvSpPr>
        <p:spPr>
          <a:xfrm>
            <a:off x="457200" y="4145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FA physical count &amp; reconciliation now performed 100% in-house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Previously carried out with a 3rd-party audit firm (Deloitte BD)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SAP FA records in KPP, YCL, TSL &amp; KSL now reconcile to physical count results</a:t>
            </a:r>
          </a:p>
        </p:txBody>
      </p:sp>
      <p:sp>
        <p:nvSpPr>
          <p:cNvPr id="50" name="Hdr50"/>
          <p:cNvSpPr txBox="1"/>
          <p:nvPr/>
        </p:nvSpPr>
        <p:spPr>
          <a:xfrm>
            <a:off x="6210300" y="3805000"/>
            <a:ext cx="5524500" cy="340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91440" r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003366"/>
                </a:solidFill>
                <a:latin typeface="Calibri"/>
              </a:rPr>
              <a:t>Impact &amp; Way Forward</a:t>
            </a:r>
          </a:p>
        </p:txBody>
      </p:sp>
      <p:sp>
        <p:nvSpPr>
          <p:cNvPr id="51" name="Body51"/>
          <p:cNvSpPr txBox="1"/>
          <p:nvPr/>
        </p:nvSpPr>
        <p:spPr>
          <a:xfrm>
            <a:off x="6210300" y="4145000"/>
            <a:ext cx="5524500" cy="232500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2"/>
            </a:solidFill>
          </a:ln>
        </p:spPr>
        <p:txBody>
          <a:bodyPr wrap="square" lIns="118872" tIns="73152" rIns="91440" bIns="45720" anchor="t"/>
          <a:lstStyle/>
          <a:p>
            <a:pPr marL="171450" indent="-171450" algn="l">
              <a:lnSpc>
                <a:spcPct val="98000"/>
              </a:lnSpc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Significantly closed K-SOX fixed-asset (FA) gaps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Cleaner, reconciled FA records &amp; reduced external-audit dependency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New Fixed Asset policy (IAS-aligned) addressing practical FA accounting issues</a:t>
            </a:r>
          </a:p>
          <a:p>
            <a:pPr marL="171450" indent="-171450" algn="l">
              <a:lnSpc>
                <a:spcPct val="980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/>
              </a:rPr>
              <a:t>Next: extend AMS FA-PV to all asset classes &amp; remaining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ungone">
  <a:themeElements>
    <a:clrScheme name="Youngone">
      <a:dk1>
        <a:srgbClr val="1B2838"/>
      </a:dk1>
      <a:lt1>
        <a:srgbClr val="FFFFFF"/>
      </a:lt1>
      <a:dk2>
        <a:srgbClr val="003366"/>
      </a:dk2>
      <a:lt2>
        <a:srgbClr val="F5F7FA"/>
      </a:lt2>
      <a:accent1>
        <a:srgbClr val="003366"/>
      </a:accent1>
      <a:accent2>
        <a:srgbClr val="C8A951"/>
      </a:accent2>
      <a:accent3>
        <a:srgbClr val="2E7D32"/>
      </a:accent3>
      <a:accent4>
        <a:srgbClr val="4472C4"/>
      </a:accent4>
      <a:accent5>
        <a:srgbClr val="ED7D31"/>
      </a:accent5>
      <a:accent6>
        <a:srgbClr val="70AD47"/>
      </a:accent6>
      <a:hlink>
        <a:srgbClr val="0563C1"/>
      </a:hlink>
      <a:folHlink>
        <a:srgbClr val="954F72"/>
      </a:folHlink>
    </a:clrScheme>
    <a:fontScheme name="Youngon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Youngone</vt:lpstr>
      <vt:lpstr>K-SOX: Achievements, Initiatives &amp; Way Forward</vt:lpstr>
      <vt:lpstr>Fixed Asset Physical Verification (FA-PV) &amp; AMS</vt:lpstr>
    </vt:vector>
  </TitlesOfParts>
  <Company>Youngone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K-SOX &amp; FA-PV Highlights - Youngone Bangladesh</dc:title>
  <dc:creator>Youngone Bangladesh Accounts and Finance Team</dc:creator>
  <cp:lastModifiedBy>hasan70</cp:lastModifiedBy>
  <cp:revision>20</cp:revision>
  <dcterms:created xsi:type="dcterms:W3CDTF">2026-08-02T00:00:00Z</dcterms:created>
  <dcterms:modified xsi:type="dcterms:W3CDTF">2026-08-08T06:15:23Z</dcterms:modified>
</cp:coreProperties>
</file>