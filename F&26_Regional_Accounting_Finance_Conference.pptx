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57" r:id="rId4"/>
    <p:sldId id="258" r:id="rId5"/>
    <p:sldId id="259" r:id="rId6"/>
    <p:sldId id="260" r:id="rId7"/>
    <p:sldId id="261" r:id="rId8"/>
    <p:sldId id="262" r:id="rId9"/>
    <p:sldId id="274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san70" initials="h" lastIdx="0" clrIdx="0">
    <p:extLst>
      <p:ext uri="{19B8F6BF-5375-455C-9EA6-DF929625EA0E}">
        <p15:presenceInfo xmlns:p15="http://schemas.microsoft.com/office/powerpoint/2012/main" userId="S-1-5-21-1841215469-254472967-2717852791-205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85" d="100"/>
          <a:sy n="85" d="100"/>
        </p:scale>
        <p:origin x="13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0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8/8/2026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714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pic>
        <p:nvPicPr>
          <p:cNvPr id="4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6308795"/>
            <a:ext cx="2286000" cy="366889"/>
          </a:xfrm>
          <a:prstGeom prst="rect">
            <a:avLst/>
          </a:prstGeom>
        </p:spPr>
      </p:pic>
      <p:sp>
        <p:nvSpPr>
          <p:cNvPr id="6" name="Title"/>
          <p:cNvSpPr txBox="1"/>
          <p:nvPr/>
        </p:nvSpPr>
        <p:spPr>
          <a:xfrm>
            <a:off x="1371600" y="1828800"/>
            <a:ext cx="941832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/>
              </a:rPr>
              <a:t>FY26 Regional Accounting &amp; Finance Conference</a:t>
            </a:r>
          </a:p>
          <a:p>
            <a:pPr algn="ctr">
              <a:spcBef>
                <a:spcPts val="300"/>
              </a:spcBef>
              <a:buNone/>
            </a:pPr>
            <a:r>
              <a:rPr lang="en-US" sz="2400" dirty="0">
                <a:solidFill>
                  <a:srgbClr val="C8A951"/>
                </a:solidFill>
                <a:latin typeface="Calibri"/>
              </a:rPr>
              <a:t>Youngone Bangladesh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Calibri"/>
              </a:rPr>
              <a:t>Continuous Improvement Initiatives &amp; Key Challenges</a:t>
            </a:r>
          </a:p>
        </p:txBody>
      </p:sp>
      <p:sp>
        <p:nvSpPr>
          <p:cNvPr id="7" name="Sub"/>
          <p:cNvSpPr txBox="1"/>
          <p:nvPr/>
        </p:nvSpPr>
        <p:spPr>
          <a:xfrm>
            <a:off x="1828800" y="4754880"/>
            <a:ext cx="850392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/>
              </a:rPr>
              <a:t>18-20 August 2026 | Korea HQ (Manri-dong)</a:t>
            </a:r>
          </a:p>
          <a:p>
            <a:pPr algn="ctr">
              <a:spcBef>
                <a:spcPts val="150"/>
              </a:spcBef>
              <a:buNone/>
            </a:pPr>
            <a:r>
              <a:rPr lang="en-US" sz="1200" dirty="0">
                <a:solidFill>
                  <a:srgbClr val="C8A951"/>
                </a:solidFill>
                <a:latin typeface="Calibri"/>
              </a:rPr>
              <a:t>Theme: Managing Responsibility with Excellence and Agility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892168"/>
          </a:xfrm>
        </p:spPr>
        <p:txBody>
          <a:bodyPr anchor="ctr">
            <a:normAutofit/>
          </a:bodyPr>
          <a:lstStyle/>
          <a:p>
            <a:pPr lvl="0"/>
            <a:r>
              <a:rPr lang="en-US" sz="4800" i="1" dirty="0">
                <a:solidFill>
                  <a:srgbClr val="FFFFFF"/>
                </a:solidFill>
              </a:rPr>
              <a:t>Your best quote that reflects your approach… “It’s one small step for man, one giant leap for mankind.”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5225240"/>
            <a:ext cx="10058400" cy="11430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- Neil Armstrong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61FCB7-0939-9087-84CE-F967F95F265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840" t="32497" r="22596" b="14196"/>
          <a:stretch/>
        </p:blipFill>
        <p:spPr bwMode="auto">
          <a:xfrm>
            <a:off x="0" y="0"/>
            <a:ext cx="12192000" cy="705393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pic>
        <p:nvPicPr>
          <p:cNvPr id="4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775" y="6275606"/>
            <a:ext cx="1645920" cy="274320"/>
          </a:xfrm>
          <a:prstGeom prst="rect">
            <a:avLst/>
          </a:prstGeom>
        </p:spPr>
      </p:pic>
      <p:sp>
        <p:nvSpPr>
          <p:cNvPr id="3" name="Ftr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5" name="FtrTxt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buNone/>
            </a:pPr>
            <a:r>
              <a:rPr lang="en-US" sz="800" dirty="0">
                <a:solidFill>
                  <a:srgbClr val="FFFFFF"/>
                </a:solidFill>
                <a:latin typeface="Calibri"/>
              </a:rPr>
              <a:t>FY26 Regional Accounting &amp; Finance Conference | Youngone Bangladesh | 2/15</a:t>
            </a:r>
          </a:p>
        </p:txBody>
      </p:sp>
      <p:sp>
        <p:nvSpPr>
          <p:cNvPr id="10" name="Ttl"/>
          <p:cNvSpPr txBox="1"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buNone/>
            </a:pPr>
            <a:r>
              <a:rPr lang="en-US" sz="2400" b="1" dirty="0">
                <a:solidFill>
                  <a:srgbClr val="003366"/>
                </a:solidFill>
                <a:latin typeface="Calibri"/>
              </a:rPr>
              <a:t>Presentation Agenda</a:t>
            </a:r>
          </a:p>
        </p:txBody>
      </p:sp>
      <p:sp>
        <p:nvSpPr>
          <p:cNvPr id="11" name="Items"/>
          <p:cNvSpPr txBox="1"/>
          <p:nvPr/>
        </p:nvSpPr>
        <p:spPr>
          <a:xfrm>
            <a:off x="731520" y="1097280"/>
            <a:ext cx="6583680" cy="366663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200"/>
              </a:spcBef>
              <a:buNone/>
            </a:pPr>
            <a:r>
              <a:rPr lang="en-US" sz="2400" dirty="0">
                <a:solidFill>
                  <a:srgbClr val="1B2838"/>
                </a:solidFill>
                <a:latin typeface="Calibri"/>
              </a:rPr>
              <a:t>1. SAP S/4HANA - Implementation &amp; Achievements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2400" dirty="0">
                <a:solidFill>
                  <a:srgbClr val="1B2838"/>
                </a:solidFill>
                <a:latin typeface="Calibri"/>
              </a:rPr>
              <a:t>2. e-Accounting - System Enhancements &amp; Limitations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2400" dirty="0">
                <a:solidFill>
                  <a:srgbClr val="1B2838"/>
                </a:solidFill>
                <a:latin typeface="Calibri"/>
              </a:rPr>
              <a:t>3. e-Banking - Digital Payment Transformation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2400" dirty="0">
                <a:solidFill>
                  <a:srgbClr val="1B2838"/>
                </a:solidFill>
                <a:latin typeface="Calibri"/>
              </a:rPr>
              <a:t>4. Host-to-Host (H2H) - Automation &amp; Challenges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2400" dirty="0">
                <a:solidFill>
                  <a:srgbClr val="1B2838"/>
                </a:solidFill>
                <a:latin typeface="Calibri"/>
              </a:rPr>
              <a:t>5. Internal Controls &amp; Process Improvements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2400" dirty="0">
                <a:solidFill>
                  <a:srgbClr val="1B2838"/>
                </a:solidFill>
                <a:latin typeface="Calibri"/>
              </a:rPr>
              <a:t>6. Business Partnering &amp; Collaboration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2400" dirty="0">
                <a:solidFill>
                  <a:srgbClr val="1B2838"/>
                </a:solidFill>
                <a:latin typeface="Calibri"/>
              </a:rPr>
              <a:t>7. Team Excellence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2400" dirty="0">
                <a:solidFill>
                  <a:srgbClr val="1B2838"/>
                </a:solidFill>
                <a:latin typeface="Calibri"/>
              </a:rPr>
              <a:t>8. Key Challenges &amp; Way Forward</a:t>
            </a:r>
          </a:p>
        </p:txBody>
      </p:sp>
      <p:sp>
        <p:nvSpPr>
          <p:cNvPr id="12" name="Ent"/>
          <p:cNvSpPr txBox="1"/>
          <p:nvPr/>
        </p:nvSpPr>
        <p:spPr>
          <a:xfrm>
            <a:off x="6784622" y="3251200"/>
            <a:ext cx="4919698" cy="2418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buNone/>
            </a:pPr>
            <a:r>
              <a:rPr lang="en-US" sz="1600" b="1" dirty="0">
                <a:solidFill>
                  <a:srgbClr val="0033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Contributing Entities:</a:t>
            </a:r>
          </a:p>
          <a:p>
            <a:pPr algn="l">
              <a:spcBef>
                <a:spcPts val="100"/>
              </a:spcBef>
              <a:buChar char="•"/>
            </a:pPr>
            <a:r>
              <a:rPr lang="en-US" sz="1600" b="1" dirty="0">
                <a:solidFill>
                  <a:srgbClr val="1B28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YCL - </a:t>
            </a:r>
            <a:r>
              <a:rPr lang="en-US" sz="1600" b="1" dirty="0" err="1">
                <a:solidFill>
                  <a:srgbClr val="1B28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Youngone</a:t>
            </a:r>
            <a:r>
              <a:rPr lang="en-US" sz="1600" b="1" dirty="0">
                <a:solidFill>
                  <a:srgbClr val="1B28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(CEPZ) Limited</a:t>
            </a:r>
          </a:p>
          <a:p>
            <a:pPr algn="l">
              <a:spcBef>
                <a:spcPts val="100"/>
              </a:spcBef>
              <a:buChar char="•"/>
            </a:pPr>
            <a:r>
              <a:rPr lang="en-US" sz="1600" b="1" dirty="0">
                <a:solidFill>
                  <a:srgbClr val="1B28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KSL - </a:t>
            </a:r>
            <a:r>
              <a:rPr lang="en-US" sz="1600" b="1" dirty="0" err="1">
                <a:solidFill>
                  <a:srgbClr val="1B28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Karnaphuli</a:t>
            </a:r>
            <a:r>
              <a:rPr lang="en-US" sz="1600" b="1" dirty="0">
                <a:solidFill>
                  <a:srgbClr val="1B28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Shoes Industries Ltd</a:t>
            </a:r>
          </a:p>
          <a:p>
            <a:pPr algn="l">
              <a:spcBef>
                <a:spcPts val="100"/>
              </a:spcBef>
              <a:buChar char="•"/>
            </a:pPr>
            <a:r>
              <a:rPr lang="en-US" sz="1600" b="1" dirty="0">
                <a:solidFill>
                  <a:srgbClr val="1B28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TSL - </a:t>
            </a:r>
            <a:r>
              <a:rPr lang="en-US" sz="1600" b="1" dirty="0" err="1">
                <a:solidFill>
                  <a:srgbClr val="1B28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Titas</a:t>
            </a:r>
            <a:r>
              <a:rPr lang="en-US" sz="1600" b="1" dirty="0">
                <a:solidFill>
                  <a:srgbClr val="1B28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1B28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SportswearIndustries</a:t>
            </a:r>
            <a:r>
              <a:rPr lang="en-US" sz="1600" b="1" dirty="0">
                <a:solidFill>
                  <a:srgbClr val="1B28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Ltd</a:t>
            </a:r>
          </a:p>
          <a:p>
            <a:pPr algn="l">
              <a:spcBef>
                <a:spcPts val="100"/>
              </a:spcBef>
              <a:buChar char="•"/>
            </a:pPr>
            <a:r>
              <a:rPr lang="en-US" sz="1600" b="1" dirty="0">
                <a:solidFill>
                  <a:srgbClr val="1B28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YHT - </a:t>
            </a:r>
            <a:r>
              <a:rPr lang="en-US" sz="1600" b="1" dirty="0" err="1">
                <a:solidFill>
                  <a:srgbClr val="1B28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Youngone</a:t>
            </a:r>
            <a:r>
              <a:rPr lang="en-US" sz="1600" b="1" dirty="0">
                <a:solidFill>
                  <a:srgbClr val="1B28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Hi-Tech Sportswear </a:t>
            </a:r>
            <a:r>
              <a:rPr lang="en-US" sz="1600" b="1" dirty="0" err="1">
                <a:solidFill>
                  <a:srgbClr val="1B28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Inds</a:t>
            </a:r>
            <a:r>
              <a:rPr lang="en-US" sz="1600" b="1" dirty="0">
                <a:solidFill>
                  <a:srgbClr val="1B28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Ltd</a:t>
            </a:r>
          </a:p>
          <a:p>
            <a:pPr algn="l">
              <a:spcBef>
                <a:spcPts val="100"/>
              </a:spcBef>
              <a:buChar char="•"/>
            </a:pPr>
            <a:r>
              <a:rPr lang="en-US" sz="1600" b="1" dirty="0">
                <a:solidFill>
                  <a:srgbClr val="1B28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KSI - </a:t>
            </a:r>
            <a:r>
              <a:rPr lang="en-US" sz="1600" b="1" dirty="0" err="1">
                <a:solidFill>
                  <a:srgbClr val="1B28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Karnaphuli</a:t>
            </a:r>
            <a:r>
              <a:rPr lang="en-US" sz="1600" b="1" dirty="0">
                <a:solidFill>
                  <a:srgbClr val="1B28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Sportswear Industries Ltd</a:t>
            </a:r>
          </a:p>
          <a:p>
            <a:pPr>
              <a:spcBef>
                <a:spcPts val="100"/>
              </a:spcBef>
              <a:buChar char="•"/>
            </a:pPr>
            <a:r>
              <a:rPr lang="en-US" sz="1600" b="1" dirty="0">
                <a:solidFill>
                  <a:srgbClr val="1B28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KPP - </a:t>
            </a:r>
            <a:r>
              <a:rPr lang="en-GB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Karnaphuli</a:t>
            </a: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 Polyester Products Company Limited</a:t>
            </a:r>
            <a:endParaRPr lang="en-US" sz="1100" dirty="0">
              <a:solidFill>
                <a:srgbClr val="1B283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pic>
        <p:nvPicPr>
          <p:cNvPr id="4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4480" y="6221307"/>
            <a:ext cx="1645920" cy="283464"/>
          </a:xfrm>
          <a:prstGeom prst="rect">
            <a:avLst/>
          </a:prstGeom>
        </p:spPr>
      </p:pic>
      <p:sp>
        <p:nvSpPr>
          <p:cNvPr id="3" name="Ftr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5" name="FtrTxt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buNone/>
            </a:pPr>
            <a:r>
              <a:rPr lang="en-US" sz="800" dirty="0">
                <a:solidFill>
                  <a:srgbClr val="FFFFFF"/>
                </a:solidFill>
                <a:latin typeface="Calibri"/>
              </a:rPr>
              <a:t>FY26 Regional Accounting &amp; Finance Conference | Youngone Bangladesh | 3/15</a:t>
            </a:r>
          </a:p>
        </p:txBody>
      </p:sp>
      <p:sp>
        <p:nvSpPr>
          <p:cNvPr id="10" name="AccentBar"/>
          <p:cNvSpPr/>
          <p:nvPr/>
        </p:nvSpPr>
        <p:spPr>
          <a:xfrm>
            <a:off x="457200" y="320040"/>
            <a:ext cx="73152" cy="502920"/>
          </a:xfrm>
          <a:prstGeom prst="rect">
            <a:avLst/>
          </a:prstGeom>
          <a:solidFill>
            <a:srgbClr val="C8A951"/>
          </a:solidFill>
          <a:ln>
            <a:noFill/>
          </a:ln>
        </p:spPr>
      </p:sp>
      <p:sp>
        <p:nvSpPr>
          <p:cNvPr id="11" name="Ttl"/>
          <p:cNvSpPr txBox="1"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buNone/>
            </a:pPr>
            <a:r>
              <a:rPr lang="en-US" sz="2200" b="1" dirty="0">
                <a:solidFill>
                  <a:srgbClr val="003366"/>
                </a:solidFill>
                <a:latin typeface="Calibri"/>
              </a:rPr>
              <a:t>SAP S/4HANA - Implementation Journey</a:t>
            </a:r>
          </a:p>
        </p:txBody>
      </p:sp>
      <p:sp>
        <p:nvSpPr>
          <p:cNvPr id="12" name="Body"/>
          <p:cNvSpPr txBox="1"/>
          <p:nvPr/>
        </p:nvSpPr>
        <p:spPr>
          <a:xfrm>
            <a:off x="457200" y="914400"/>
            <a:ext cx="11247120" cy="5303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100"/>
              </a:spcBef>
              <a:buNone/>
            </a:pPr>
            <a:r>
              <a:rPr lang="en-US" sz="2400" b="1" dirty="0">
                <a:solidFill>
                  <a:srgbClr val="003366"/>
                </a:solidFill>
                <a:latin typeface="Calibri"/>
              </a:rPr>
              <a:t>Milestone Timeline</a:t>
            </a:r>
          </a:p>
          <a:p>
            <a:pPr algn="l"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April 2024: YCL, KSL, TSL, KSI (GMT/Shoe/BP/OS/SWT/VXP), YHT Go-Live</a:t>
            </a:r>
          </a:p>
          <a:p>
            <a:pPr algn="l">
              <a:spcBef>
                <a:spcPts val="5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February 2025: KPP1, KPP2, KPL, YPL, SDF, STL &amp; YSF</a:t>
            </a:r>
          </a:p>
          <a:p>
            <a:pPr algn="l">
              <a:spcBef>
                <a:spcPts val="5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April 2026: KSI-Workshop | June 2026: TVL | August 2026: KPP3 &amp; KPP4</a:t>
            </a:r>
          </a:p>
          <a:p>
            <a:pPr algn="l">
              <a:spcBef>
                <a:spcPts val="250"/>
              </a:spcBef>
              <a:buNone/>
            </a:pPr>
            <a:r>
              <a:rPr lang="en-US" sz="2400" b="1" dirty="0">
                <a:solidFill>
                  <a:srgbClr val="003366"/>
                </a:solidFill>
                <a:latin typeface="Calibri"/>
              </a:rPr>
              <a:t>Key Achievements (All Entities)</a:t>
            </a:r>
          </a:p>
          <a:p>
            <a:pPr algn="l"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Successfully transitioned from legacy SAP ECC to S/4HANA across all major units</a:t>
            </a:r>
          </a:p>
          <a:p>
            <a:pPr algn="l">
              <a:spcBef>
                <a:spcPts val="5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Improved accounting accuracy, timeliness, and operational efficiency</a:t>
            </a:r>
          </a:p>
          <a:p>
            <a:pPr algn="l">
              <a:spcBef>
                <a:spcPts val="250"/>
              </a:spcBef>
              <a:buNone/>
            </a:pPr>
            <a:r>
              <a:rPr lang="en-US" sz="2400" b="1" dirty="0">
                <a:solidFill>
                  <a:srgbClr val="003366"/>
                </a:solidFill>
                <a:latin typeface="Calibri"/>
              </a:rPr>
              <a:t>Current Challenges</a:t>
            </a:r>
          </a:p>
          <a:p>
            <a:pPr algn="l"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KSI: STO (Stock Transfer Order) billing not reflected in P&amp;L/Balance Sheet for inter-unit sales - causes Trial Balance mismatch and manual COGS adjustments</a:t>
            </a:r>
          </a:p>
          <a:p>
            <a:pPr algn="l">
              <a:spcBef>
                <a:spcPts val="5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KSI: PL &amp; PA Report mismatch during inter-unit subcontract operations</a:t>
            </a:r>
          </a:p>
          <a:p>
            <a:pPr algn="l">
              <a:spcBef>
                <a:spcPts val="5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KPP: Sales &amp; COGS differences between SAP data and monthly management reports due to inter-unit transfer non-recognition (IFRS-15) and land rent proportionate allocation</a:t>
            </a:r>
          </a:p>
          <a:p>
            <a:pPr algn="l">
              <a:spcBef>
                <a:spcPts val="5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KSI: Open Item Valuation not displayed in T-Code ZFIR0190 - impairs intercompany receivable/payable visibility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pic>
        <p:nvPicPr>
          <p:cNvPr id="4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775" y="6251166"/>
            <a:ext cx="1645920" cy="283464"/>
          </a:xfrm>
          <a:prstGeom prst="rect">
            <a:avLst/>
          </a:prstGeom>
        </p:spPr>
      </p:pic>
      <p:sp>
        <p:nvSpPr>
          <p:cNvPr id="3" name="Ftr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5" name="FtrTxt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buNone/>
            </a:pPr>
            <a:r>
              <a:rPr lang="en-US" sz="800" dirty="0">
                <a:solidFill>
                  <a:srgbClr val="FFFFFF"/>
                </a:solidFill>
                <a:latin typeface="Calibri"/>
              </a:rPr>
              <a:t>FY26 Regional Accounting &amp; Finance Conference | Youngone Bangladesh | 4/15</a:t>
            </a:r>
          </a:p>
        </p:txBody>
      </p:sp>
      <p:sp>
        <p:nvSpPr>
          <p:cNvPr id="10" name="AccentBar"/>
          <p:cNvSpPr/>
          <p:nvPr/>
        </p:nvSpPr>
        <p:spPr>
          <a:xfrm>
            <a:off x="457200" y="320040"/>
            <a:ext cx="73152" cy="502920"/>
          </a:xfrm>
          <a:prstGeom prst="rect">
            <a:avLst/>
          </a:prstGeom>
          <a:solidFill>
            <a:srgbClr val="C8A951"/>
          </a:solidFill>
          <a:ln>
            <a:noFill/>
          </a:ln>
        </p:spPr>
      </p:sp>
      <p:sp>
        <p:nvSpPr>
          <p:cNvPr id="11" name="Ttl"/>
          <p:cNvSpPr txBox="1"/>
          <p:nvPr/>
        </p:nvSpPr>
        <p:spPr>
          <a:xfrm>
            <a:off x="640080" y="27432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buNone/>
            </a:pPr>
            <a:r>
              <a:rPr lang="en-US" sz="2200" b="1" dirty="0">
                <a:solidFill>
                  <a:srgbClr val="003366"/>
                </a:solidFill>
                <a:latin typeface="Calibri"/>
              </a:rPr>
              <a:t>e-Accounting System - Achievements</a:t>
            </a:r>
          </a:p>
        </p:txBody>
      </p:sp>
      <p:sp>
        <p:nvSpPr>
          <p:cNvPr id="12" name="Body"/>
          <p:cNvSpPr txBox="1"/>
          <p:nvPr/>
        </p:nvSpPr>
        <p:spPr>
          <a:xfrm>
            <a:off x="457200" y="914400"/>
            <a:ext cx="11247120" cy="5303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50"/>
              </a:spcBef>
              <a:buNone/>
            </a:pPr>
            <a:r>
              <a:rPr lang="en-US" sz="1600" b="1" dirty="0">
                <a:latin typeface="Calibri"/>
              </a:rPr>
              <a:t>Entities: YCL, KSL, TSL, YHT, KSI, KPP (All entities report similar achievements)</a:t>
            </a:r>
          </a:p>
          <a:p>
            <a:pPr algn="l">
              <a:spcBef>
                <a:spcPts val="150"/>
              </a:spcBef>
              <a:buNone/>
            </a:pPr>
            <a:r>
              <a:rPr lang="en-US" sz="2400" b="1" dirty="0">
                <a:solidFill>
                  <a:srgbClr val="003366"/>
                </a:solidFill>
                <a:latin typeface="Calibri"/>
              </a:rPr>
              <a:t>System Overview</a:t>
            </a:r>
          </a:p>
          <a:p>
            <a:pPr algn="l"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All payment requests initiated by departments through e-Accounting before Finance processing - achieving digital transformation of the approval workflow</a:t>
            </a:r>
          </a:p>
          <a:p>
            <a:pPr algn="l">
              <a:spcBef>
                <a:spcPts val="5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Journal entries automatically posted; no manual data import required into S/4HANA</a:t>
            </a:r>
          </a:p>
          <a:p>
            <a:pPr algn="l">
              <a:spcBef>
                <a:spcPts val="200"/>
              </a:spcBef>
              <a:buNone/>
            </a:pPr>
            <a:endParaRPr lang="en-US" sz="2400" b="1" dirty="0">
              <a:solidFill>
                <a:srgbClr val="003366"/>
              </a:solidFill>
              <a:latin typeface="Calibri"/>
            </a:endParaRPr>
          </a:p>
          <a:p>
            <a:pPr algn="l">
              <a:spcBef>
                <a:spcPts val="200"/>
              </a:spcBef>
              <a:buNone/>
            </a:pPr>
            <a:r>
              <a:rPr lang="en-US" sz="2400" b="1" dirty="0">
                <a:solidFill>
                  <a:srgbClr val="003366"/>
                </a:solidFill>
                <a:latin typeface="Calibri"/>
              </a:rPr>
              <a:t>Key Achievements</a:t>
            </a:r>
          </a:p>
          <a:p>
            <a:pPr algn="l"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Segregation of Approval Lines: Applicant department and Accounting department approval lines successfully separated (previously single line)</a:t>
            </a:r>
          </a:p>
          <a:p>
            <a:pPr algn="l">
              <a:spcBef>
                <a:spcPts val="5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Advance Settlement Updated: Over/short payment settlement now possible by applicant department through the system</a:t>
            </a:r>
          </a:p>
          <a:p>
            <a:pPr algn="l">
              <a:spcBef>
                <a:spcPts val="5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Tax Deduction from Advance: Withholding tax can now be deducted from vendor advance payments within e-Accounting</a:t>
            </a:r>
          </a:p>
          <a:p>
            <a:pPr algn="l">
              <a:spcBef>
                <a:spcPts val="5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Improved transparency, efficiency, and control over the entire payment process</a:t>
            </a:r>
          </a:p>
          <a:p>
            <a:pPr algn="l">
              <a:spcBef>
                <a:spcPts val="5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Significant improvement in GL account selection accuracy through regular training and coordination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pic>
        <p:nvPicPr>
          <p:cNvPr id="4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775" y="6259068"/>
            <a:ext cx="1645920" cy="283464"/>
          </a:xfrm>
          <a:prstGeom prst="rect">
            <a:avLst/>
          </a:prstGeom>
        </p:spPr>
      </p:pic>
      <p:sp>
        <p:nvSpPr>
          <p:cNvPr id="3" name="Ftr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5" name="FtrTxt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buNone/>
            </a:pPr>
            <a:r>
              <a:rPr lang="en-US" sz="800" dirty="0">
                <a:solidFill>
                  <a:srgbClr val="FFFFFF"/>
                </a:solidFill>
                <a:latin typeface="Calibri"/>
              </a:rPr>
              <a:t>FY26 Regional Accounting &amp; Finance Conference | Youngone Bangladesh | 5/15</a:t>
            </a:r>
          </a:p>
        </p:txBody>
      </p:sp>
      <p:sp>
        <p:nvSpPr>
          <p:cNvPr id="10" name="AccentBar"/>
          <p:cNvSpPr/>
          <p:nvPr/>
        </p:nvSpPr>
        <p:spPr>
          <a:xfrm>
            <a:off x="457200" y="320040"/>
            <a:ext cx="73152" cy="502920"/>
          </a:xfrm>
          <a:prstGeom prst="rect">
            <a:avLst/>
          </a:prstGeom>
          <a:solidFill>
            <a:srgbClr val="C8A951"/>
          </a:solidFill>
          <a:ln>
            <a:noFill/>
          </a:ln>
        </p:spPr>
      </p:sp>
      <p:sp>
        <p:nvSpPr>
          <p:cNvPr id="11" name="Ttl"/>
          <p:cNvSpPr txBox="1"/>
          <p:nvPr/>
        </p:nvSpPr>
        <p:spPr>
          <a:xfrm>
            <a:off x="640080" y="27432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buNone/>
            </a:pPr>
            <a:r>
              <a:rPr lang="en-US" sz="2200" b="1" dirty="0">
                <a:solidFill>
                  <a:srgbClr val="003366"/>
                </a:solidFill>
                <a:latin typeface="Calibri"/>
              </a:rPr>
              <a:t>e-Accounting - Current Limitations &amp; Proposed Solutions</a:t>
            </a:r>
          </a:p>
        </p:txBody>
      </p:sp>
      <p:sp>
        <p:nvSpPr>
          <p:cNvPr id="12" name="Body"/>
          <p:cNvSpPr txBox="1"/>
          <p:nvPr/>
        </p:nvSpPr>
        <p:spPr>
          <a:xfrm>
            <a:off x="457200" y="914400"/>
            <a:ext cx="11247120" cy="5303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50"/>
              </a:spcBef>
              <a:buNone/>
            </a:pPr>
            <a:r>
              <a:rPr lang="en-US" sz="1600" b="1" dirty="0">
                <a:latin typeface="Calibri"/>
              </a:rPr>
              <a:t>Entities: YCL, KSL (common issues across entities)</a:t>
            </a:r>
          </a:p>
          <a:p>
            <a:pPr algn="ctr">
              <a:spcBef>
                <a:spcPts val="50"/>
              </a:spcBef>
              <a:buNone/>
            </a:pPr>
            <a:endParaRPr lang="en-US" sz="1600" b="1" dirty="0">
              <a:latin typeface="Calibri"/>
            </a:endParaRPr>
          </a:p>
          <a:p>
            <a:pPr algn="l">
              <a:spcBef>
                <a:spcPts val="15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Multi-Currency Limitation: EUR/SGD/JPY payments not supported - only USD &amp; BDT available. Manual processing required for EURO payments</a:t>
            </a:r>
          </a:p>
          <a:p>
            <a:pPr algn="l">
              <a:spcBef>
                <a:spcPts val="8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Multi-Vendor in Single Request: Cannot maintain multiple vendor/customer accounts in one e-Accounting request (was possible in legacy SAP ECC)</a:t>
            </a:r>
          </a:p>
          <a:p>
            <a:pPr algn="l">
              <a:spcBef>
                <a:spcPts val="8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Accrual Payments: e-Accounting cannot process payments against already-accrued/provisioned amounts</a:t>
            </a:r>
          </a:p>
          <a:p>
            <a:pPr algn="l">
              <a:spcBef>
                <a:spcPts val="8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Sundry Receivable/Payable (SR/SP): Unable to create SR/SP entries through e-Accounting for inter-unit expenses</a:t>
            </a:r>
          </a:p>
          <a:p>
            <a:pPr algn="l">
              <a:spcBef>
                <a:spcPts val="8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PA Report </a:t>
            </a:r>
            <a:r>
              <a:rPr lang="en-US" dirty="0">
                <a:solidFill>
                  <a:srgbClr val="1B2838"/>
                </a:solidFill>
                <a:latin typeface="Calibri"/>
              </a:rPr>
              <a:t>COGS</a:t>
            </a:r>
            <a:r>
              <a:rPr lang="en-US" sz="2000" dirty="0">
                <a:solidFill>
                  <a:srgbClr val="1B2838"/>
                </a:solidFill>
                <a:latin typeface="Calibri"/>
              </a:rPr>
              <a:t>: FG amortization and RM amortization shown combined - cannot segregate item-wise (existed in old ECC)</a:t>
            </a:r>
          </a:p>
          <a:p>
            <a:pPr algn="l">
              <a:spcBef>
                <a:spcPts val="8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Single Approval Line for Internal Accounting: Accounting team currently requires both applicant + receiving approval for internal documents</a:t>
            </a:r>
          </a:p>
          <a:p>
            <a:pPr algn="l">
              <a:spcBef>
                <a:spcPts val="8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Bank Account Selection Error: Departments occasionally select wrong vendor bank account during payment request</a:t>
            </a:r>
          </a:p>
          <a:p>
            <a:pPr algn="l">
              <a:spcBef>
                <a:spcPts val="8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Debit Posting in Vendor Ledger: e-Accounting only allows credit posting; debit posting needed (YHT)</a:t>
            </a:r>
          </a:p>
          <a:p>
            <a:pPr algn="l">
              <a:spcBef>
                <a:spcPts val="150"/>
              </a:spcBef>
              <a:buNone/>
            </a:pPr>
            <a:r>
              <a:rPr lang="en-US" sz="2000" b="1" dirty="0">
                <a:solidFill>
                  <a:srgbClr val="003366"/>
                </a:solidFill>
                <a:latin typeface="Calibri"/>
              </a:rPr>
              <a:t>Action: Meeting held 14 July 2026 with YOK GT team (Mr. Chang Kim) - solutions being developed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pic>
        <p:nvPicPr>
          <p:cNvPr id="4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6080" y="6167628"/>
            <a:ext cx="1645920" cy="283464"/>
          </a:xfrm>
          <a:prstGeom prst="rect">
            <a:avLst/>
          </a:prstGeom>
        </p:spPr>
      </p:pic>
      <p:sp>
        <p:nvSpPr>
          <p:cNvPr id="3" name="Ftr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5" name="FtrTxt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buNone/>
            </a:pPr>
            <a:r>
              <a:rPr lang="en-US" sz="800" dirty="0">
                <a:solidFill>
                  <a:srgbClr val="FFFFFF"/>
                </a:solidFill>
                <a:latin typeface="Calibri"/>
              </a:rPr>
              <a:t>FY26 Regional Accounting &amp; Finance Conference | Youngone Bangladesh | 6/15</a:t>
            </a:r>
          </a:p>
        </p:txBody>
      </p:sp>
      <p:sp>
        <p:nvSpPr>
          <p:cNvPr id="10" name="AccentBar"/>
          <p:cNvSpPr/>
          <p:nvPr/>
        </p:nvSpPr>
        <p:spPr>
          <a:xfrm>
            <a:off x="457200" y="320040"/>
            <a:ext cx="73152" cy="502920"/>
          </a:xfrm>
          <a:prstGeom prst="rect">
            <a:avLst/>
          </a:prstGeom>
          <a:solidFill>
            <a:srgbClr val="C8A951"/>
          </a:solidFill>
          <a:ln>
            <a:noFill/>
          </a:ln>
        </p:spPr>
      </p:sp>
      <p:sp>
        <p:nvSpPr>
          <p:cNvPr id="11" name="Ttl"/>
          <p:cNvSpPr txBox="1"/>
          <p:nvPr/>
        </p:nvSpPr>
        <p:spPr>
          <a:xfrm>
            <a:off x="640080" y="27432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buNone/>
            </a:pPr>
            <a:r>
              <a:rPr lang="en-US" sz="2200" b="1" dirty="0">
                <a:solidFill>
                  <a:srgbClr val="003366"/>
                </a:solidFill>
                <a:latin typeface="Calibri"/>
              </a:rPr>
              <a:t>e-Banking - Digital Payment Transformation</a:t>
            </a:r>
          </a:p>
        </p:txBody>
      </p:sp>
      <p:sp>
        <p:nvSpPr>
          <p:cNvPr id="12" name="Body"/>
          <p:cNvSpPr txBox="1"/>
          <p:nvPr/>
        </p:nvSpPr>
        <p:spPr>
          <a:xfrm>
            <a:off x="457200" y="914400"/>
            <a:ext cx="11247120" cy="5303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50"/>
              </a:spcBef>
              <a:buNone/>
            </a:pPr>
            <a:r>
              <a:rPr lang="en-US" b="1" dirty="0">
                <a:latin typeface="Calibri"/>
              </a:rPr>
              <a:t>Entities: YCL, KSL, TSL, YHT (common across entities)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2400" b="1" dirty="0">
                <a:solidFill>
                  <a:srgbClr val="003366"/>
                </a:solidFill>
                <a:latin typeface="Calibri"/>
              </a:rPr>
              <a:t>Implementation Journey (YCL Lead)</a:t>
            </a:r>
          </a:p>
          <a:p>
            <a:pPr algn="l">
              <a:spcBef>
                <a:spcPts val="8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CFO approval: June 2023 | Full adoption achieved: September 2024 (~15 months)</a:t>
            </a:r>
          </a:p>
          <a:p>
            <a:pPr algn="l">
              <a:spcBef>
                <a:spcPts val="5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Phase 1 (Jun-Sep 2023): Executive alignment, bank integrations, security protocols</a:t>
            </a:r>
          </a:p>
          <a:p>
            <a:pPr algn="l">
              <a:spcBef>
                <a:spcPts val="5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Phase 2 (Oct 2023-Mar 2024): Core account migration, user training, friction resolution</a:t>
            </a:r>
          </a:p>
          <a:p>
            <a:pPr algn="l">
              <a:spcBef>
                <a:spcPts val="5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Phase 3 (Apr-Sep 2024): Phased out legacy manual processes across all entities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2400" b="1" dirty="0">
                <a:solidFill>
                  <a:srgbClr val="003366"/>
                </a:solidFill>
                <a:latin typeface="Calibri"/>
              </a:rPr>
              <a:t>Benefits Achieved</a:t>
            </a:r>
          </a:p>
          <a:p>
            <a:pPr algn="l">
              <a:spcBef>
                <a:spcPts val="8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Faster, more secure, and efficient payment processing</a:t>
            </a:r>
          </a:p>
          <a:p>
            <a:pPr algn="l">
              <a:spcBef>
                <a:spcPts val="5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Improved speed and accuracy of bank data collection and reconciliation</a:t>
            </a:r>
          </a:p>
          <a:p>
            <a:pPr algn="l">
              <a:spcBef>
                <a:spcPts val="5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Reduced manual effort and strengthened payment controls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2400" b="1" dirty="0">
                <a:solidFill>
                  <a:srgbClr val="003366"/>
                </a:solidFill>
                <a:latin typeface="Calibri"/>
              </a:rPr>
              <a:t>Remaining Issues</a:t>
            </a:r>
          </a:p>
          <a:p>
            <a:pPr algn="l">
              <a:spcBef>
                <a:spcPts val="8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YHT: Pilot basis since April 2023; YHT launched H2H pilot in May 2024</a:t>
            </a:r>
          </a:p>
          <a:p>
            <a:pPr algn="l">
              <a:spcBef>
                <a:spcPts val="5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TSL: IBC payment delays via SCB Straight2Bank platform - impacts supplier relationships</a:t>
            </a:r>
          </a:p>
          <a:p>
            <a:pPr algn="l">
              <a:spcBef>
                <a:spcPts val="5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New gateway in 2026: FX Forward Booking (started Jan 2026), FX SWAP (under development)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pic>
        <p:nvPicPr>
          <p:cNvPr id="4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6080" y="6264600"/>
            <a:ext cx="1645920" cy="301752"/>
          </a:xfrm>
          <a:prstGeom prst="rect">
            <a:avLst/>
          </a:prstGeom>
        </p:spPr>
      </p:pic>
      <p:sp>
        <p:nvSpPr>
          <p:cNvPr id="3" name="Ftr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5" name="FtrTxt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buNone/>
            </a:pPr>
            <a:r>
              <a:rPr lang="en-US" sz="800" dirty="0">
                <a:solidFill>
                  <a:srgbClr val="FFFFFF"/>
                </a:solidFill>
                <a:latin typeface="Calibri"/>
              </a:rPr>
              <a:t>FY26 Regional Accounting &amp; Finance Conference | Youngone Bangladesh | 7/15</a:t>
            </a:r>
          </a:p>
        </p:txBody>
      </p:sp>
      <p:sp>
        <p:nvSpPr>
          <p:cNvPr id="10" name="AccentBar"/>
          <p:cNvSpPr/>
          <p:nvPr/>
        </p:nvSpPr>
        <p:spPr>
          <a:xfrm>
            <a:off x="457200" y="320040"/>
            <a:ext cx="73152" cy="502920"/>
          </a:xfrm>
          <a:prstGeom prst="rect">
            <a:avLst/>
          </a:prstGeom>
          <a:solidFill>
            <a:srgbClr val="C8A951"/>
          </a:solidFill>
          <a:ln>
            <a:noFill/>
          </a:ln>
        </p:spPr>
      </p:sp>
      <p:sp>
        <p:nvSpPr>
          <p:cNvPr id="11" name="Ttl"/>
          <p:cNvSpPr txBox="1"/>
          <p:nvPr/>
        </p:nvSpPr>
        <p:spPr>
          <a:xfrm>
            <a:off x="640080" y="27432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buNone/>
            </a:pPr>
            <a:r>
              <a:rPr lang="en-US" sz="2200" b="1" dirty="0">
                <a:solidFill>
                  <a:srgbClr val="003366"/>
                </a:solidFill>
                <a:latin typeface="Calibri"/>
              </a:rPr>
              <a:t>Host-to-Host (H2H) Payment - Achievements</a:t>
            </a:r>
          </a:p>
        </p:txBody>
      </p:sp>
      <p:sp>
        <p:nvSpPr>
          <p:cNvPr id="12" name="Body"/>
          <p:cNvSpPr txBox="1"/>
          <p:nvPr/>
        </p:nvSpPr>
        <p:spPr>
          <a:xfrm>
            <a:off x="457200" y="914400"/>
            <a:ext cx="11247120" cy="5303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50"/>
              </a:spcBef>
              <a:buNone/>
            </a:pPr>
            <a:r>
              <a:rPr lang="en-US" sz="1600" dirty="0">
                <a:solidFill>
                  <a:srgbClr val="666666"/>
                </a:solidFill>
                <a:latin typeface="Calibri"/>
              </a:rPr>
              <a:t>Entities: YCL, KSL, TSL, YHT, KSI (common topic - consolidated view)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2400" b="1" dirty="0">
                <a:solidFill>
                  <a:srgbClr val="003366"/>
                </a:solidFill>
                <a:latin typeface="Calibri"/>
              </a:rPr>
              <a:t>Adoption Progress</a:t>
            </a:r>
          </a:p>
          <a:p>
            <a:pPr algn="l">
              <a:spcBef>
                <a:spcPts val="8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H2H launched: October 2024 (after successful e-banking completion)</a:t>
            </a:r>
          </a:p>
          <a:p>
            <a:pPr algn="l">
              <a:spcBef>
                <a:spcPts val="5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Achieved ~90% adoption rate within first year (2025)</a:t>
            </a:r>
          </a:p>
          <a:p>
            <a:pPr algn="l">
              <a:spcBef>
                <a:spcPts val="5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KSL: Initial 50-60% progressed to &gt;90% through continuous improvement</a:t>
            </a:r>
          </a:p>
          <a:p>
            <a:pPr algn="l">
              <a:spcBef>
                <a:spcPts val="5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TSL: Achieved 91.3% H2H adoption (latest)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2400" b="1" dirty="0">
                <a:solidFill>
                  <a:srgbClr val="003366"/>
                </a:solidFill>
                <a:latin typeface="Calibri"/>
              </a:rPr>
              <a:t>Key Benefits</a:t>
            </a:r>
          </a:p>
          <a:p>
            <a:pPr algn="l">
              <a:spcBef>
                <a:spcPts val="8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Faster payment processing with improved accuracy</a:t>
            </a:r>
          </a:p>
          <a:p>
            <a:pPr algn="l">
              <a:spcBef>
                <a:spcPts val="5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Reduced manual intervention and human error</a:t>
            </a:r>
          </a:p>
          <a:p>
            <a:pPr algn="l">
              <a:spcBef>
                <a:spcPts val="5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More accurate and swift compared to manual bank transactions</a:t>
            </a:r>
          </a:p>
          <a:p>
            <a:pPr algn="l">
              <a:spcBef>
                <a:spcPts val="5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Better audit trail and payment tracking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2400" b="1" dirty="0">
                <a:solidFill>
                  <a:srgbClr val="003366"/>
                </a:solidFill>
                <a:latin typeface="Calibri"/>
              </a:rPr>
              <a:t>Process Flow (TSL)</a:t>
            </a:r>
          </a:p>
          <a:p>
            <a:pPr algn="l">
              <a:spcBef>
                <a:spcPts val="8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T-Code ZTRR0120 (Filter docs) &gt; Payment Method F &gt; House Bank/Account ID &gt; Approval Line &gt; F110 Payment Run &gt; ZTRR0131 Transfer Request &gt; ZTRR0131A Verification &gt; Transfer to Bank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BE56FC2-CBEA-42E0-9873-D072DF848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373" y="1467556"/>
            <a:ext cx="9075138" cy="514617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865425A-8787-4F22-9378-983A508D1F1B}"/>
              </a:ext>
            </a:extLst>
          </p:cNvPr>
          <p:cNvSpPr txBox="1"/>
          <p:nvPr/>
        </p:nvSpPr>
        <p:spPr>
          <a:xfrm>
            <a:off x="1886372" y="669456"/>
            <a:ext cx="8950960" cy="461665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/>
              <a:t>H2H </a:t>
            </a:r>
            <a:r>
              <a:rPr lang="en-US" sz="2400" b="1" dirty="0"/>
              <a:t>Banking</a:t>
            </a:r>
            <a:r>
              <a:rPr lang="en-US" sz="2000" b="1" dirty="0"/>
              <a:t> Compliance</a:t>
            </a:r>
          </a:p>
        </p:txBody>
      </p:sp>
    </p:spTree>
    <p:extLst>
      <p:ext uri="{BB962C8B-B14F-4D97-AF65-F5344CB8AC3E}">
        <p14:creationId xmlns:p14="http://schemas.microsoft.com/office/powerpoint/2010/main" val="2507965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pic>
        <p:nvPicPr>
          <p:cNvPr id="4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5769" y="6232596"/>
            <a:ext cx="1645920" cy="283464"/>
          </a:xfrm>
          <a:prstGeom prst="rect">
            <a:avLst/>
          </a:prstGeom>
        </p:spPr>
      </p:pic>
      <p:sp>
        <p:nvSpPr>
          <p:cNvPr id="3" name="Ftr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5" name="FtrTxt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buNone/>
            </a:pPr>
            <a:r>
              <a:rPr lang="en-US" sz="800" dirty="0">
                <a:solidFill>
                  <a:srgbClr val="FFFFFF"/>
                </a:solidFill>
                <a:latin typeface="Calibri"/>
              </a:rPr>
              <a:t>FY26 Regional Accounting &amp; Finance Conference | Youngone Bangladesh | 8/15</a:t>
            </a:r>
          </a:p>
        </p:txBody>
      </p:sp>
      <p:sp>
        <p:nvSpPr>
          <p:cNvPr id="10" name="AccentBar"/>
          <p:cNvSpPr/>
          <p:nvPr/>
        </p:nvSpPr>
        <p:spPr>
          <a:xfrm>
            <a:off x="457200" y="320040"/>
            <a:ext cx="73152" cy="502920"/>
          </a:xfrm>
          <a:prstGeom prst="rect">
            <a:avLst/>
          </a:prstGeom>
          <a:solidFill>
            <a:srgbClr val="C8A951"/>
          </a:solidFill>
          <a:ln>
            <a:noFill/>
          </a:ln>
        </p:spPr>
      </p:sp>
      <p:sp>
        <p:nvSpPr>
          <p:cNvPr id="11" name="Ttl"/>
          <p:cNvSpPr txBox="1"/>
          <p:nvPr/>
        </p:nvSpPr>
        <p:spPr>
          <a:xfrm>
            <a:off x="640080" y="669431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buNone/>
            </a:pPr>
            <a:r>
              <a:rPr lang="en-US" sz="2200" b="1" dirty="0">
                <a:solidFill>
                  <a:srgbClr val="003366"/>
                </a:solidFill>
                <a:latin typeface="Calibri"/>
              </a:rPr>
              <a:t>Host-to-Host (H2H) - Challenges &amp; Limitations</a:t>
            </a:r>
          </a:p>
        </p:txBody>
      </p:sp>
      <p:sp>
        <p:nvSpPr>
          <p:cNvPr id="12" name="Body"/>
          <p:cNvSpPr txBox="1"/>
          <p:nvPr/>
        </p:nvSpPr>
        <p:spPr>
          <a:xfrm>
            <a:off x="457200" y="1527048"/>
            <a:ext cx="11247120" cy="5303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50"/>
              </a:spcBef>
              <a:buNone/>
            </a:pPr>
            <a:r>
              <a:rPr lang="en-US" dirty="0">
                <a:latin typeface="Calibri"/>
              </a:rPr>
              <a:t>Entities: YCL, KSL, TSL, YHT, KSI (consolidated - common across entities)</a:t>
            </a:r>
          </a:p>
          <a:p>
            <a:pPr algn="l">
              <a:spcBef>
                <a:spcPts val="15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USD RTGS Payments: Cannot be processed through H2H - requires e-banking/manual [YCL, KSL, TSL]</a:t>
            </a:r>
          </a:p>
          <a:p>
            <a:pPr algn="l">
              <a:spcBef>
                <a:spcPts val="8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Employee/Payroll Payments: FS, ML, salary, conveyance, mobile bills not supported through H2H [YCL, KSL, TSL]</a:t>
            </a:r>
          </a:p>
          <a:p>
            <a:pPr algn="l">
              <a:spcBef>
                <a:spcPts val="8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Foreign Currency (EUR/other): Only BDT and USD supported; EUR/FX transactions require e-banking [YHT]</a:t>
            </a:r>
          </a:p>
          <a:p>
            <a:pPr algn="l">
              <a:spcBef>
                <a:spcPts val="8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FX Transactions: Exchange rates require confirmation before execution - not possible via H2H [YHT]</a:t>
            </a:r>
          </a:p>
          <a:p>
            <a:pPr algn="l">
              <a:spcBef>
                <a:spcPts val="8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Woori Bank: Does not provide H2H facilities - intercompany transactions via manual/e-banking [YHT]</a:t>
            </a:r>
          </a:p>
          <a:p>
            <a:pPr algn="l">
              <a:spcBef>
                <a:spcPts val="8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LC Transactions: Bank-specific compliance requirements prevent full H2H processing [YHT]</a:t>
            </a:r>
          </a:p>
          <a:p>
            <a:pPr algn="l">
              <a:spcBef>
                <a:spcPts val="8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Financial Investments: FDRs cannot be processed through H2H [YHT]</a:t>
            </a:r>
          </a:p>
          <a:p>
            <a:pPr algn="l">
              <a:spcBef>
                <a:spcPts val="8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Government/Utility Payments: Titas Gas, DESCO, WASA, T&amp;T bills not supported via H2H [YHT]</a:t>
            </a:r>
          </a:p>
          <a:p>
            <a:pPr algn="l">
              <a:spcBef>
                <a:spcPts val="8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Email Notifications: No automatic payment confirmation sent to stakeholders after H2H processing [KSL]</a:t>
            </a:r>
          </a:p>
          <a:p>
            <a:pPr algn="l">
              <a:spcBef>
                <a:spcPts val="8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Same Supplier Blocking: If transaction pending at bank, other units cannot process H2H for same vendor [KSI]</a:t>
            </a:r>
          </a:p>
          <a:p>
            <a:pPr algn="l">
              <a:spcBef>
                <a:spcPts val="8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Supporting Document Submission: Hard copies still required; system upload not available [TSL]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pic>
        <p:nvPicPr>
          <p:cNvPr id="4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775" y="6255738"/>
            <a:ext cx="1645920" cy="274320"/>
          </a:xfrm>
          <a:prstGeom prst="rect">
            <a:avLst/>
          </a:prstGeom>
        </p:spPr>
      </p:pic>
      <p:sp>
        <p:nvSpPr>
          <p:cNvPr id="3" name="Ftr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5" name="FtrTxt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buNone/>
            </a:pPr>
            <a:r>
              <a:rPr lang="en-US" sz="800" dirty="0">
                <a:solidFill>
                  <a:srgbClr val="FFFFFF"/>
                </a:solidFill>
                <a:latin typeface="Calibri"/>
              </a:rPr>
              <a:t>FY26 Regional Accounting &amp; Finance Conference | Youngone Bangladesh | 9/15</a:t>
            </a:r>
          </a:p>
        </p:txBody>
      </p:sp>
      <p:sp>
        <p:nvSpPr>
          <p:cNvPr id="10" name="AccentBar"/>
          <p:cNvSpPr/>
          <p:nvPr/>
        </p:nvSpPr>
        <p:spPr>
          <a:xfrm>
            <a:off x="457200" y="320040"/>
            <a:ext cx="73152" cy="502920"/>
          </a:xfrm>
          <a:prstGeom prst="rect">
            <a:avLst/>
          </a:prstGeom>
          <a:solidFill>
            <a:srgbClr val="C8A951"/>
          </a:solidFill>
          <a:ln>
            <a:noFill/>
          </a:ln>
        </p:spPr>
      </p:sp>
      <p:sp>
        <p:nvSpPr>
          <p:cNvPr id="11" name="Ttl"/>
          <p:cNvSpPr txBox="1"/>
          <p:nvPr/>
        </p:nvSpPr>
        <p:spPr>
          <a:xfrm>
            <a:off x="640080" y="27432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buNone/>
            </a:pPr>
            <a:r>
              <a:rPr lang="en-US" sz="2200" b="1" dirty="0">
                <a:solidFill>
                  <a:srgbClr val="003366"/>
                </a:solidFill>
                <a:latin typeface="Calibri"/>
              </a:rPr>
              <a:t>Host-to-Host - Proposed Solutions &amp; Recommendations</a:t>
            </a:r>
          </a:p>
        </p:txBody>
      </p:sp>
      <p:sp>
        <p:nvSpPr>
          <p:cNvPr id="12" name="Body"/>
          <p:cNvSpPr txBox="1"/>
          <p:nvPr/>
        </p:nvSpPr>
        <p:spPr>
          <a:xfrm>
            <a:off x="457200" y="914400"/>
            <a:ext cx="11247120" cy="5303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15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Employee Vendor Registration: Register employees as vendors in S4/HANA to enable H2H for salary/FS/ML/bills - could push H2H near 100% [TSL, KSI]</a:t>
            </a:r>
          </a:p>
          <a:p>
            <a:pPr algn="l"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Document Upload via System: Enable supporting document submission (Invoice, B/L, BOE, IMP etc.) through H2H at payment instruction time [TSL]</a:t>
            </a:r>
          </a:p>
          <a:p>
            <a:pPr algn="l"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Post-payment Document Fetch: Enable option in H2H portal to fetch scanned documents from SAP using document reference number [KSI]</a:t>
            </a:r>
          </a:p>
          <a:p>
            <a:pPr algn="l"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Business Advance Beneficiaries: Create employees with regular advances as pre-approved H2H beneficiaries [YHT]</a:t>
            </a:r>
          </a:p>
          <a:p>
            <a:pPr algn="l"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Call-Back/Stop Option: Permit cancel/stop option after H2H initiation to prevent duplicate payments [KSI]</a:t>
            </a:r>
          </a:p>
          <a:p>
            <a:pPr algn="l"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Multiple Email for Beneficiary: Include two email addresses (supplier + drafter) to ensure payment notification [KSI]</a:t>
            </a:r>
          </a:p>
          <a:p>
            <a:pPr algn="l"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Bank Confirmation: Citibank and SCB to improve payment confirmation email reliability [KSI]</a:t>
            </a:r>
          </a:p>
          <a:p>
            <a:pPr algn="l">
              <a:spcBef>
                <a:spcPts val="10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Vendor Default Bank Account: Maintain default account policy in SAP; vendor must request change formally [KSI]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pic>
        <p:nvPicPr>
          <p:cNvPr id="4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775" y="6217920"/>
            <a:ext cx="1645920" cy="283464"/>
          </a:xfrm>
          <a:prstGeom prst="rect">
            <a:avLst/>
          </a:prstGeom>
        </p:spPr>
      </p:pic>
      <p:sp>
        <p:nvSpPr>
          <p:cNvPr id="3" name="Ftr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5" name="FtrTxt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buNone/>
            </a:pPr>
            <a:r>
              <a:rPr lang="en-US" sz="800" dirty="0">
                <a:solidFill>
                  <a:srgbClr val="FFFFFF"/>
                </a:solidFill>
                <a:latin typeface="Calibri"/>
              </a:rPr>
              <a:t>FY26 Regional Accounting &amp; Finance Conference | Youngone Bangladesh | 10/15</a:t>
            </a:r>
          </a:p>
        </p:txBody>
      </p:sp>
      <p:sp>
        <p:nvSpPr>
          <p:cNvPr id="10" name="AccentBar"/>
          <p:cNvSpPr/>
          <p:nvPr/>
        </p:nvSpPr>
        <p:spPr>
          <a:xfrm>
            <a:off x="457200" y="320040"/>
            <a:ext cx="73152" cy="502920"/>
          </a:xfrm>
          <a:prstGeom prst="rect">
            <a:avLst/>
          </a:prstGeom>
          <a:solidFill>
            <a:srgbClr val="C8A951"/>
          </a:solidFill>
          <a:ln>
            <a:noFill/>
          </a:ln>
        </p:spPr>
      </p:sp>
      <p:sp>
        <p:nvSpPr>
          <p:cNvPr id="11" name="Ttl"/>
          <p:cNvSpPr txBox="1"/>
          <p:nvPr/>
        </p:nvSpPr>
        <p:spPr>
          <a:xfrm>
            <a:off x="640080" y="27432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buNone/>
            </a:pPr>
            <a:r>
              <a:rPr lang="en-US" sz="2200" b="1" dirty="0">
                <a:solidFill>
                  <a:srgbClr val="003366"/>
                </a:solidFill>
                <a:latin typeface="Calibri"/>
              </a:rPr>
              <a:t>Internal Controls &amp; Process Improvements</a:t>
            </a:r>
          </a:p>
        </p:txBody>
      </p:sp>
      <p:sp>
        <p:nvSpPr>
          <p:cNvPr id="12" name="Body"/>
          <p:cNvSpPr txBox="1"/>
          <p:nvPr/>
        </p:nvSpPr>
        <p:spPr>
          <a:xfrm>
            <a:off x="457200" y="914400"/>
            <a:ext cx="11247120" cy="5303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100"/>
              </a:spcBef>
              <a:buNone/>
            </a:pPr>
            <a:r>
              <a:rPr lang="en-US" sz="2000" b="1" dirty="0">
                <a:solidFill>
                  <a:srgbClr val="003366"/>
                </a:solidFill>
                <a:latin typeface="Calibri"/>
              </a:rPr>
              <a:t>Paperless Initiative [KSI]</a:t>
            </a:r>
          </a:p>
          <a:p>
            <a:pPr algn="l">
              <a:spcBef>
                <a:spcPts val="80"/>
              </a:spcBef>
              <a:buChar char="•"/>
            </a:pPr>
            <a:r>
              <a:rPr lang="en-US" dirty="0">
                <a:solidFill>
                  <a:srgbClr val="1B2838"/>
                </a:solidFill>
                <a:latin typeface="Calibri"/>
              </a:rPr>
              <a:t>All documents available in e-Accounting - decision proposed to eliminate hard copy &amp; journal printing</a:t>
            </a:r>
          </a:p>
          <a:p>
            <a:pPr algn="l">
              <a:spcBef>
                <a:spcPts val="50"/>
              </a:spcBef>
              <a:buChar char="•"/>
            </a:pPr>
            <a:r>
              <a:rPr lang="en-US" dirty="0">
                <a:solidFill>
                  <a:srgbClr val="1B2838"/>
                </a:solidFill>
                <a:latin typeface="Calibri"/>
              </a:rPr>
              <a:t>KSI projected savings: ~Tk. 340,560/year (paper: 20 rims + ink: 4 pcs per month saved)</a:t>
            </a:r>
          </a:p>
          <a:p>
            <a:pPr algn="l">
              <a:spcBef>
                <a:spcPts val="50"/>
              </a:spcBef>
              <a:buChar char="•"/>
            </a:pPr>
            <a:r>
              <a:rPr lang="en-US" dirty="0">
                <a:solidFill>
                  <a:srgbClr val="1B2838"/>
                </a:solidFill>
                <a:latin typeface="Calibri"/>
              </a:rPr>
              <a:t>Recommendation: Establish policy on document retention period and destroy oldest records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2000" b="1" dirty="0">
                <a:solidFill>
                  <a:srgbClr val="003366"/>
                </a:solidFill>
                <a:latin typeface="Calibri"/>
              </a:rPr>
              <a:t>Security &amp; Confidentiality [KSI]</a:t>
            </a:r>
          </a:p>
          <a:p>
            <a:pPr algn="l">
              <a:spcBef>
                <a:spcPts val="80"/>
              </a:spcBef>
              <a:buChar char="•"/>
            </a:pPr>
            <a:r>
              <a:rPr lang="en-US" dirty="0">
                <a:solidFill>
                  <a:srgbClr val="1B2838"/>
                </a:solidFill>
                <a:latin typeface="Calibri"/>
              </a:rPr>
              <a:t>Separate isolated workspace needed for finance team to protect e-banking/H2H credentials</a:t>
            </a:r>
          </a:p>
          <a:p>
            <a:pPr algn="l">
              <a:spcBef>
                <a:spcPts val="50"/>
              </a:spcBef>
              <a:buChar char="•"/>
            </a:pPr>
            <a:r>
              <a:rPr lang="en-US" dirty="0">
                <a:solidFill>
                  <a:srgbClr val="1B2838"/>
                </a:solidFill>
                <a:latin typeface="Calibri"/>
              </a:rPr>
              <a:t>Separate mobile/SIM recommended to keep business transactions safe from personal devices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2000" b="1" dirty="0">
                <a:solidFill>
                  <a:srgbClr val="003366"/>
                </a:solidFill>
                <a:latin typeface="Calibri"/>
              </a:rPr>
              <a:t>Financial Statement Restructuring [YCL]</a:t>
            </a:r>
          </a:p>
          <a:p>
            <a:pPr algn="l">
              <a:spcBef>
                <a:spcPts val="80"/>
              </a:spcBef>
              <a:buChar char="•"/>
            </a:pPr>
            <a:r>
              <a:rPr lang="en-US" dirty="0">
                <a:solidFill>
                  <a:srgbClr val="1B2838"/>
                </a:solidFill>
                <a:latin typeface="Calibri"/>
              </a:rPr>
              <a:t>F.01 T-Code: Short-term deposits (&lt;3 months) shown under Advance Deposits - should be under Financial Instruments</a:t>
            </a:r>
          </a:p>
          <a:p>
            <a:pPr algn="l">
              <a:spcBef>
                <a:spcPts val="50"/>
              </a:spcBef>
              <a:buChar char="•"/>
            </a:pPr>
            <a:r>
              <a:rPr lang="en-US" dirty="0">
                <a:solidFill>
                  <a:srgbClr val="1B2838"/>
                </a:solidFill>
                <a:latin typeface="Calibri"/>
              </a:rPr>
              <a:t>P&amp;L display needs correction: Current "Sales" label actually shows Gross Profit; Operating Profit calculation to be restructured</a:t>
            </a:r>
          </a:p>
          <a:p>
            <a:pPr algn="l">
              <a:spcBef>
                <a:spcPts val="50"/>
              </a:spcBef>
              <a:buChar char="•"/>
            </a:pPr>
            <a:r>
              <a:rPr lang="en-US" dirty="0">
                <a:solidFill>
                  <a:srgbClr val="1B2838"/>
                </a:solidFill>
                <a:latin typeface="Calibri"/>
              </a:rPr>
              <a:t>GT team able to restructure F/S but requires YO accounting head permission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2000" b="1" dirty="0">
                <a:solidFill>
                  <a:srgbClr val="003366"/>
                </a:solidFill>
                <a:latin typeface="Calibri"/>
              </a:rPr>
              <a:t>BoE Compliance [YCL]</a:t>
            </a:r>
          </a:p>
          <a:p>
            <a:pPr algn="l">
              <a:spcBef>
                <a:spcPts val="80"/>
              </a:spcBef>
              <a:buChar char="•"/>
            </a:pPr>
            <a:r>
              <a:rPr lang="en-US" dirty="0">
                <a:solidFill>
                  <a:srgbClr val="1B2838"/>
                </a:solidFill>
                <a:latin typeface="Calibri"/>
              </a:rPr>
              <a:t>Central Bank requires Bill of Entry within 120 days of import payment; department delays cause bank account locks</a:t>
            </a:r>
          </a:p>
          <a:p>
            <a:pPr algn="l">
              <a:spcBef>
                <a:spcPts val="50"/>
              </a:spcBef>
              <a:buChar char="•"/>
            </a:pPr>
            <a:r>
              <a:rPr lang="en-US" dirty="0">
                <a:solidFill>
                  <a:srgbClr val="1B2838"/>
                </a:solidFill>
                <a:latin typeface="Calibri"/>
              </a:rPr>
              <a:t>Finance team actively notifying departments but enforcement mechanism needed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pic>
        <p:nvPicPr>
          <p:cNvPr id="4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0303" y="6048756"/>
            <a:ext cx="1645920" cy="274320"/>
          </a:xfrm>
          <a:prstGeom prst="rect">
            <a:avLst/>
          </a:prstGeom>
        </p:spPr>
      </p:pic>
      <p:sp>
        <p:nvSpPr>
          <p:cNvPr id="3" name="Ftr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5" name="FtrTxt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buNone/>
            </a:pPr>
            <a:r>
              <a:rPr lang="en-US" sz="800" dirty="0">
                <a:solidFill>
                  <a:srgbClr val="FFFFFF"/>
                </a:solidFill>
                <a:latin typeface="Calibri"/>
              </a:rPr>
              <a:t>FY26 Regional Accounting &amp; Finance Conference | Youngone Bangladesh | 11/15</a:t>
            </a:r>
          </a:p>
        </p:txBody>
      </p:sp>
      <p:sp>
        <p:nvSpPr>
          <p:cNvPr id="10" name="AccentBar"/>
          <p:cNvSpPr/>
          <p:nvPr/>
        </p:nvSpPr>
        <p:spPr>
          <a:xfrm>
            <a:off x="457200" y="320040"/>
            <a:ext cx="73152" cy="502920"/>
          </a:xfrm>
          <a:prstGeom prst="rect">
            <a:avLst/>
          </a:prstGeom>
          <a:solidFill>
            <a:srgbClr val="C8A951"/>
          </a:solidFill>
          <a:ln>
            <a:noFill/>
          </a:ln>
        </p:spPr>
      </p:sp>
      <p:sp>
        <p:nvSpPr>
          <p:cNvPr id="11" name="Ttl"/>
          <p:cNvSpPr txBox="1"/>
          <p:nvPr/>
        </p:nvSpPr>
        <p:spPr>
          <a:xfrm>
            <a:off x="640080" y="27432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buNone/>
            </a:pPr>
            <a:r>
              <a:rPr lang="en-US" sz="2200" b="1" dirty="0">
                <a:solidFill>
                  <a:srgbClr val="003366"/>
                </a:solidFill>
                <a:latin typeface="Calibri"/>
              </a:rPr>
              <a:t>Operational Discussion Points [YHT Accounts]</a:t>
            </a:r>
          </a:p>
        </p:txBody>
      </p:sp>
      <p:sp>
        <p:nvSpPr>
          <p:cNvPr id="12" name="Body"/>
          <p:cNvSpPr txBox="1"/>
          <p:nvPr/>
        </p:nvSpPr>
        <p:spPr>
          <a:xfrm>
            <a:off x="457200" y="1033272"/>
            <a:ext cx="11247120" cy="5303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15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Central Expenses Segregation: YHT central expenses need to be distributed among Dhaka Material Units</a:t>
            </a:r>
          </a:p>
          <a:p>
            <a:pPr algn="l">
              <a:spcBef>
                <a:spcPts val="8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Double Payment Protection: SAP should automatically prevent duplicate payment requisitions</a:t>
            </a:r>
          </a:p>
          <a:p>
            <a:pPr algn="l">
              <a:spcBef>
                <a:spcPts val="8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Vehicle Fuel Consumption: Committee needed to fix route-wise fuel consumption standards</a:t>
            </a:r>
          </a:p>
          <a:p>
            <a:pPr algn="l">
              <a:spcBef>
                <a:spcPts val="8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Vehicle Repairing Cost: Old vehicles repairing cost exceeds rental vehicle cost - review needed</a:t>
            </a:r>
          </a:p>
          <a:p>
            <a:pPr algn="l">
              <a:spcBef>
                <a:spcPts val="8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Overtime Control: Requirements should be reasonable with minimum labor cost focus</a:t>
            </a:r>
          </a:p>
          <a:p>
            <a:pPr algn="l">
              <a:spcBef>
                <a:spcPts val="8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Worker Birth Date Verification: Needed to fix retirement status after 60 years</a:t>
            </a:r>
          </a:p>
          <a:p>
            <a:pPr algn="l">
              <a:spcBef>
                <a:spcPts val="8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Production Order/FG Costing: Special training session needed for Accounts &amp; Sales Officers on SAP analysis</a:t>
            </a:r>
          </a:p>
          <a:p>
            <a:pPr algn="l">
              <a:spcBef>
                <a:spcPts val="8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Import Freight Rate: Review sea &amp; air rates; policy for console cargo to reduce freight cost</a:t>
            </a:r>
          </a:p>
          <a:p>
            <a:pPr algn="l">
              <a:spcBef>
                <a:spcPts val="8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Bill Submission Timeline: Fix submission date with action for intentional delays</a:t>
            </a:r>
          </a:p>
          <a:p>
            <a:pPr algn="l">
              <a:spcBef>
                <a:spcPts val="8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Income Tax &amp; VAT: Suggested handling by third party (SF Ahmed &amp; Company)</a:t>
            </a:r>
          </a:p>
          <a:p>
            <a:pPr algn="l">
              <a:spcBef>
                <a:spcPts val="8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Budget &amp; Budgetary Control: Department-wise budget preparation and follow-up needed</a:t>
            </a:r>
          </a:p>
          <a:p>
            <a:pPr algn="l">
              <a:spcBef>
                <a:spcPts val="8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Debit Note Settlement: Local - month end; Overseas - immediately after issuing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pic>
        <p:nvPicPr>
          <p:cNvPr id="4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4175" y="6022509"/>
            <a:ext cx="1645920" cy="365760"/>
          </a:xfrm>
          <a:prstGeom prst="rect">
            <a:avLst/>
          </a:prstGeom>
        </p:spPr>
      </p:pic>
      <p:sp>
        <p:nvSpPr>
          <p:cNvPr id="3" name="Ftr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5" name="FtrTxt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buNone/>
            </a:pPr>
            <a:r>
              <a:rPr lang="en-US" sz="800" dirty="0">
                <a:solidFill>
                  <a:srgbClr val="FFFFFF"/>
                </a:solidFill>
                <a:latin typeface="Calibri"/>
              </a:rPr>
              <a:t>FY26 Regional Accounting &amp; Finance Conference | Youngone Bangladesh | 12/15</a:t>
            </a:r>
          </a:p>
        </p:txBody>
      </p:sp>
      <p:sp>
        <p:nvSpPr>
          <p:cNvPr id="10" name="AccentBar"/>
          <p:cNvSpPr/>
          <p:nvPr/>
        </p:nvSpPr>
        <p:spPr>
          <a:xfrm>
            <a:off x="457200" y="320040"/>
            <a:ext cx="73152" cy="502920"/>
          </a:xfrm>
          <a:prstGeom prst="rect">
            <a:avLst/>
          </a:prstGeom>
          <a:solidFill>
            <a:srgbClr val="C8A951"/>
          </a:solidFill>
          <a:ln>
            <a:noFill/>
          </a:ln>
        </p:spPr>
      </p:sp>
      <p:sp>
        <p:nvSpPr>
          <p:cNvPr id="11" name="Ttl"/>
          <p:cNvSpPr txBox="1"/>
          <p:nvPr/>
        </p:nvSpPr>
        <p:spPr>
          <a:xfrm>
            <a:off x="640080" y="27432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buNone/>
            </a:pPr>
            <a:r>
              <a:rPr lang="en-US" sz="2200" b="1" dirty="0">
                <a:solidFill>
                  <a:srgbClr val="003366"/>
                </a:solidFill>
                <a:latin typeface="Calibri"/>
              </a:rPr>
              <a:t>Business Partnering &amp; Collaboration</a:t>
            </a:r>
          </a:p>
        </p:txBody>
      </p:sp>
      <p:sp>
        <p:nvSpPr>
          <p:cNvPr id="12" name="Body"/>
          <p:cNvSpPr txBox="1"/>
          <p:nvPr/>
        </p:nvSpPr>
        <p:spPr>
          <a:xfrm>
            <a:off x="320299" y="1088136"/>
            <a:ext cx="11247120" cy="5303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100"/>
              </a:spcBef>
              <a:buNone/>
            </a:pPr>
            <a:r>
              <a:rPr lang="en-US" sz="2400" b="1" dirty="0">
                <a:solidFill>
                  <a:srgbClr val="003366"/>
                </a:solidFill>
                <a:latin typeface="Calibri"/>
              </a:rPr>
              <a:t>Cross-Department Coordination</a:t>
            </a:r>
          </a:p>
          <a:p>
            <a:pPr algn="l">
              <a:spcBef>
                <a:spcPts val="8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Regular training and coordination with user departments on e-Accounting GL account selection [KSL]</a:t>
            </a:r>
          </a:p>
          <a:p>
            <a:pPr algn="l">
              <a:spcBef>
                <a:spcPts val="5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Finance team actively notifying departments for timely BoE submission to prevent account locks [YCL]</a:t>
            </a:r>
          </a:p>
          <a:p>
            <a:pPr algn="l">
              <a:spcBef>
                <a:spcPts val="5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Coordination with Sales Department and YKK Commercial for enabling H2H DP payments [YHT]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2400" b="1" dirty="0">
                <a:solidFill>
                  <a:srgbClr val="003366"/>
                </a:solidFill>
                <a:latin typeface="Calibri"/>
              </a:rPr>
              <a:t>Collaboration with YOK GT Team</a:t>
            </a:r>
          </a:p>
          <a:p>
            <a:pPr algn="l">
              <a:spcBef>
                <a:spcPts val="8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Meeting held 14 July 2026 with Mr. Chang Kim (YOK GT) to address e-Accounting limitations</a:t>
            </a:r>
          </a:p>
          <a:p>
            <a:pPr algn="l">
              <a:spcBef>
                <a:spcPts val="5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Multi-vendor option development in progress</a:t>
            </a:r>
          </a:p>
          <a:p>
            <a:pPr algn="l">
              <a:spcBef>
                <a:spcPts val="5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Single approval line for internal accounting documents under review</a:t>
            </a:r>
          </a:p>
          <a:p>
            <a:pPr algn="l">
              <a:spcBef>
                <a:spcPts val="5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F/S restructuring approved pending YO accounting head permission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2400" b="1" dirty="0">
                <a:solidFill>
                  <a:srgbClr val="003366"/>
                </a:solidFill>
                <a:latin typeface="Calibri"/>
              </a:rPr>
              <a:t>Operational Efficiency Initiatives</a:t>
            </a:r>
          </a:p>
          <a:p>
            <a:pPr algn="l">
              <a:spcBef>
                <a:spcPts val="8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Waste Elimination: Removing non-value-added steps using Lean tools</a:t>
            </a:r>
          </a:p>
          <a:p>
            <a:pPr algn="l">
              <a:spcBef>
                <a:spcPts val="5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Task Automation: Integrating software for repetitive data entry, reducing errors</a:t>
            </a:r>
          </a:p>
          <a:p>
            <a:pPr algn="l">
              <a:spcBef>
                <a:spcPts val="5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Purchasing Optimization: Streamlining approval matrices and vendor contract templates</a:t>
            </a:r>
          </a:p>
          <a:p>
            <a:pPr algn="l">
              <a:spcBef>
                <a:spcPts val="50"/>
              </a:spcBef>
              <a:buChar char="•"/>
            </a:pPr>
            <a:r>
              <a:rPr lang="en-US" sz="2000" dirty="0">
                <a:solidFill>
                  <a:srgbClr val="1B2838"/>
                </a:solidFill>
                <a:latin typeface="Calibri"/>
              </a:rPr>
              <a:t>Value Stream Mapping (VSM): Eliminating waste and updating SOPs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pic>
        <p:nvPicPr>
          <p:cNvPr id="4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3191" y="5989320"/>
            <a:ext cx="1645920" cy="320040"/>
          </a:xfrm>
          <a:prstGeom prst="rect">
            <a:avLst/>
          </a:prstGeom>
        </p:spPr>
      </p:pic>
      <p:sp>
        <p:nvSpPr>
          <p:cNvPr id="3" name="Ftr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5" name="FtrTxt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buNone/>
            </a:pPr>
            <a:r>
              <a:rPr lang="en-US" sz="800" dirty="0">
                <a:solidFill>
                  <a:srgbClr val="FFFFFF"/>
                </a:solidFill>
                <a:latin typeface="Calibri"/>
              </a:rPr>
              <a:t>FY26 Regional Accounting &amp; Finance Conference | Youngone Bangladesh | 13/15</a:t>
            </a:r>
          </a:p>
        </p:txBody>
      </p:sp>
      <p:sp>
        <p:nvSpPr>
          <p:cNvPr id="10" name="AccentBar"/>
          <p:cNvSpPr/>
          <p:nvPr/>
        </p:nvSpPr>
        <p:spPr>
          <a:xfrm>
            <a:off x="457200" y="320040"/>
            <a:ext cx="73152" cy="502920"/>
          </a:xfrm>
          <a:prstGeom prst="rect">
            <a:avLst/>
          </a:prstGeom>
          <a:solidFill>
            <a:srgbClr val="C8A951"/>
          </a:solidFill>
          <a:ln>
            <a:noFill/>
          </a:ln>
        </p:spPr>
      </p:sp>
      <p:sp>
        <p:nvSpPr>
          <p:cNvPr id="11" name="Ttl"/>
          <p:cNvSpPr txBox="1"/>
          <p:nvPr/>
        </p:nvSpPr>
        <p:spPr>
          <a:xfrm>
            <a:off x="640080" y="274320"/>
            <a:ext cx="91440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buNone/>
            </a:pPr>
            <a:r>
              <a:rPr lang="en-US" sz="2200" b="1" dirty="0">
                <a:solidFill>
                  <a:srgbClr val="003366"/>
                </a:solidFill>
                <a:latin typeface="Calibri"/>
              </a:rPr>
              <a:t>Team Excellence</a:t>
            </a:r>
          </a:p>
        </p:txBody>
      </p:sp>
      <p:sp>
        <p:nvSpPr>
          <p:cNvPr id="12" name="Body"/>
          <p:cNvSpPr txBox="1"/>
          <p:nvPr/>
        </p:nvSpPr>
        <p:spPr>
          <a:xfrm>
            <a:off x="472287" y="932688"/>
            <a:ext cx="11247120" cy="5430859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50"/>
              </a:spcBef>
              <a:buNone/>
            </a:pPr>
            <a:r>
              <a:rPr lang="en-US" sz="1600" b="1" dirty="0">
                <a:latin typeface="Calibri"/>
              </a:rPr>
              <a:t>Entities: TSL, KSL (common philosophy across all entities)</a:t>
            </a:r>
          </a:p>
          <a:p>
            <a:pPr algn="l">
              <a:spcBef>
                <a:spcPts val="150"/>
              </a:spcBef>
              <a:buNone/>
            </a:pPr>
            <a:endParaRPr lang="en-US" sz="2000" b="1" dirty="0">
              <a:solidFill>
                <a:srgbClr val="003366"/>
              </a:solidFill>
              <a:latin typeface="Calibri"/>
            </a:endParaRPr>
          </a:p>
          <a:p>
            <a:pPr algn="l">
              <a:spcBef>
                <a:spcPts val="150"/>
              </a:spcBef>
              <a:buNone/>
            </a:pPr>
            <a:r>
              <a:rPr lang="en-US" sz="2000" b="1" dirty="0">
                <a:solidFill>
                  <a:srgbClr val="003366"/>
                </a:solidFill>
                <a:latin typeface="Calibri"/>
              </a:rPr>
              <a:t>Accuracy, Integrity &amp; Accountability</a:t>
            </a:r>
          </a:p>
          <a:p>
            <a:pPr algn="l">
              <a:spcBef>
                <a:spcPts val="80"/>
              </a:spcBef>
              <a:buChar char="•"/>
            </a:pPr>
            <a:r>
              <a:rPr lang="en-US" dirty="0">
                <a:solidFill>
                  <a:srgbClr val="1B2838"/>
                </a:solidFill>
                <a:latin typeface="Calibri"/>
              </a:rPr>
              <a:t>Ensuring reliable financial information through accuracy and transparency</a:t>
            </a:r>
          </a:p>
          <a:p>
            <a:pPr algn="l">
              <a:spcBef>
                <a:spcPts val="50"/>
              </a:spcBef>
              <a:buChar char="•"/>
            </a:pPr>
            <a:r>
              <a:rPr lang="en-US" dirty="0">
                <a:solidFill>
                  <a:srgbClr val="1B2838"/>
                </a:solidFill>
                <a:latin typeface="Calibri"/>
              </a:rPr>
              <a:t>Maintaining strong accountability in all financial activities</a:t>
            </a:r>
          </a:p>
          <a:p>
            <a:pPr algn="l">
              <a:spcBef>
                <a:spcPts val="150"/>
              </a:spcBef>
              <a:buNone/>
            </a:pPr>
            <a:r>
              <a:rPr lang="en-US" sz="2000" b="1" dirty="0">
                <a:solidFill>
                  <a:srgbClr val="003366"/>
                </a:solidFill>
                <a:latin typeface="Calibri"/>
              </a:rPr>
              <a:t>Financial Control &amp; Compliance</a:t>
            </a:r>
          </a:p>
          <a:p>
            <a:pPr algn="l">
              <a:spcBef>
                <a:spcPts val="80"/>
              </a:spcBef>
              <a:buChar char="•"/>
            </a:pPr>
            <a:r>
              <a:rPr lang="en-US" dirty="0">
                <a:solidFill>
                  <a:srgbClr val="1B2838"/>
                </a:solidFill>
                <a:latin typeface="Calibri"/>
              </a:rPr>
              <a:t>Delivering timely financial reporting</a:t>
            </a:r>
          </a:p>
          <a:p>
            <a:pPr algn="l">
              <a:spcBef>
                <a:spcPts val="50"/>
              </a:spcBef>
              <a:buChar char="•"/>
            </a:pPr>
            <a:r>
              <a:rPr lang="en-US" dirty="0">
                <a:solidFill>
                  <a:srgbClr val="1B2838"/>
                </a:solidFill>
                <a:latin typeface="Calibri"/>
              </a:rPr>
              <a:t>Strengthening internal controls; ensuring statutory and corporate compliance</a:t>
            </a:r>
          </a:p>
          <a:p>
            <a:pPr algn="l">
              <a:spcBef>
                <a:spcPts val="150"/>
              </a:spcBef>
              <a:buNone/>
            </a:pPr>
            <a:r>
              <a:rPr lang="en-US" sz="2000" b="1" dirty="0">
                <a:solidFill>
                  <a:srgbClr val="003366"/>
                </a:solidFill>
                <a:latin typeface="Calibri"/>
              </a:rPr>
              <a:t>Operational Efficiency &amp; Process Improvement</a:t>
            </a:r>
          </a:p>
          <a:p>
            <a:pPr algn="l">
              <a:spcBef>
                <a:spcPts val="80"/>
              </a:spcBef>
              <a:buChar char="•"/>
            </a:pPr>
            <a:r>
              <a:rPr lang="en-US" dirty="0">
                <a:solidFill>
                  <a:srgbClr val="1B2838"/>
                </a:solidFill>
                <a:latin typeface="Calibri"/>
              </a:rPr>
              <a:t>Standardizing processes to improve efficiency</a:t>
            </a:r>
          </a:p>
          <a:p>
            <a:pPr algn="l">
              <a:spcBef>
                <a:spcPts val="50"/>
              </a:spcBef>
              <a:buChar char="•"/>
            </a:pPr>
            <a:r>
              <a:rPr lang="en-US" dirty="0">
                <a:solidFill>
                  <a:srgbClr val="1B2838"/>
                </a:solidFill>
                <a:latin typeface="Calibri"/>
              </a:rPr>
              <a:t>Leveraging technology to enhance productivity and minimize financial risks</a:t>
            </a:r>
          </a:p>
          <a:p>
            <a:pPr algn="l">
              <a:spcBef>
                <a:spcPts val="150"/>
              </a:spcBef>
              <a:buNone/>
            </a:pPr>
            <a:r>
              <a:rPr lang="en-US" sz="2000" b="1" dirty="0">
                <a:solidFill>
                  <a:srgbClr val="003366"/>
                </a:solidFill>
                <a:latin typeface="Calibri"/>
              </a:rPr>
              <a:t>Business Support &amp; Value Creation</a:t>
            </a:r>
          </a:p>
          <a:p>
            <a:pPr algn="l">
              <a:spcBef>
                <a:spcPts val="80"/>
              </a:spcBef>
              <a:buChar char="•"/>
            </a:pPr>
            <a:r>
              <a:rPr lang="en-US" dirty="0">
                <a:solidFill>
                  <a:srgbClr val="1B2838"/>
                </a:solidFill>
                <a:latin typeface="Calibri"/>
              </a:rPr>
              <a:t>Providing reliable financial insights for informed decision-making</a:t>
            </a:r>
          </a:p>
          <a:p>
            <a:pPr algn="l">
              <a:spcBef>
                <a:spcPts val="50"/>
              </a:spcBef>
              <a:buChar char="•"/>
            </a:pPr>
            <a:r>
              <a:rPr lang="en-US" dirty="0">
                <a:solidFill>
                  <a:srgbClr val="1B2838"/>
                </a:solidFill>
                <a:latin typeface="Calibri"/>
              </a:rPr>
              <a:t>Collaborating across departments to support business objectives</a:t>
            </a:r>
          </a:p>
          <a:p>
            <a:pPr algn="l">
              <a:spcBef>
                <a:spcPts val="150"/>
              </a:spcBef>
              <a:buNone/>
            </a:pPr>
            <a:r>
              <a:rPr lang="en-US" sz="2000" b="1" dirty="0">
                <a:solidFill>
                  <a:srgbClr val="003366"/>
                </a:solidFill>
                <a:latin typeface="Calibri"/>
              </a:rPr>
              <a:t>Continuous Improvement &amp; Professional Growth</a:t>
            </a:r>
          </a:p>
          <a:p>
            <a:pPr algn="l">
              <a:spcBef>
                <a:spcPts val="80"/>
              </a:spcBef>
              <a:buChar char="•"/>
            </a:pPr>
            <a:r>
              <a:rPr lang="en-US" dirty="0">
                <a:solidFill>
                  <a:srgbClr val="1B2838"/>
                </a:solidFill>
                <a:latin typeface="Calibri"/>
              </a:rPr>
              <a:t>Promoting continuous learning and skill development</a:t>
            </a:r>
          </a:p>
          <a:p>
            <a:pPr algn="l">
              <a:spcBef>
                <a:spcPts val="50"/>
              </a:spcBef>
              <a:buChar char="•"/>
            </a:pPr>
            <a:r>
              <a:rPr lang="en-US" dirty="0">
                <a:solidFill>
                  <a:srgbClr val="1B2838"/>
                </a:solidFill>
                <a:latin typeface="Calibri"/>
              </a:rPr>
              <a:t>Adapting to evolving business needs through innovation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pic>
        <p:nvPicPr>
          <p:cNvPr id="4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5458" y="6217920"/>
            <a:ext cx="1645920" cy="320040"/>
          </a:xfrm>
          <a:prstGeom prst="rect">
            <a:avLst/>
          </a:prstGeom>
        </p:spPr>
      </p:pic>
      <p:sp>
        <p:nvSpPr>
          <p:cNvPr id="3" name="Ftr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5" name="FtrTxt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buNone/>
            </a:pPr>
            <a:r>
              <a:rPr lang="en-US" sz="800" dirty="0">
                <a:solidFill>
                  <a:srgbClr val="FFFFFF"/>
                </a:solidFill>
                <a:latin typeface="Calibri"/>
              </a:rPr>
              <a:t>FY26 Regional Accounting &amp; Finance Conference | Youngone Bangladesh | 14/15</a:t>
            </a:r>
          </a:p>
        </p:txBody>
      </p:sp>
      <p:sp>
        <p:nvSpPr>
          <p:cNvPr id="10" name="AccentBar"/>
          <p:cNvSpPr/>
          <p:nvPr/>
        </p:nvSpPr>
        <p:spPr>
          <a:xfrm>
            <a:off x="457200" y="320040"/>
            <a:ext cx="73152" cy="502920"/>
          </a:xfrm>
          <a:prstGeom prst="rect">
            <a:avLst/>
          </a:prstGeom>
          <a:solidFill>
            <a:srgbClr val="C8A951"/>
          </a:solidFill>
          <a:ln>
            <a:noFill/>
          </a:ln>
        </p:spPr>
      </p:sp>
      <p:sp>
        <p:nvSpPr>
          <p:cNvPr id="11" name="Ttl"/>
          <p:cNvSpPr txBox="1"/>
          <p:nvPr/>
        </p:nvSpPr>
        <p:spPr>
          <a:xfrm>
            <a:off x="640080" y="27432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buNone/>
            </a:pPr>
            <a:r>
              <a:rPr lang="en-US" sz="2200" b="1" dirty="0">
                <a:solidFill>
                  <a:srgbClr val="003366"/>
                </a:solidFill>
                <a:latin typeface="Calibri"/>
              </a:rPr>
              <a:t>Key Challenges Summary &amp; Way Forward</a:t>
            </a:r>
          </a:p>
        </p:txBody>
      </p:sp>
      <p:sp>
        <p:nvSpPr>
          <p:cNvPr id="12" name="Body"/>
          <p:cNvSpPr txBox="1"/>
          <p:nvPr/>
        </p:nvSpPr>
        <p:spPr>
          <a:xfrm>
            <a:off x="457200" y="914400"/>
            <a:ext cx="11247120" cy="5303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100"/>
              </a:spcBef>
              <a:buNone/>
            </a:pPr>
            <a:r>
              <a:rPr lang="en-US" sz="2000" b="1" dirty="0">
                <a:solidFill>
                  <a:srgbClr val="003366"/>
                </a:solidFill>
                <a:latin typeface="Calibri"/>
              </a:rPr>
              <a:t>Priority Challenges Requiring HQ Support</a:t>
            </a:r>
          </a:p>
          <a:p>
            <a:pPr algn="l">
              <a:spcBef>
                <a:spcPts val="80"/>
              </a:spcBef>
              <a:buChar char="•"/>
            </a:pPr>
            <a:r>
              <a:rPr lang="en-US" dirty="0">
                <a:solidFill>
                  <a:srgbClr val="1B2838"/>
                </a:solidFill>
                <a:latin typeface="Calibri"/>
              </a:rPr>
              <a:t>e-Accounting multi-currency support (EUR/SGD/JPY) - impacts all entities with overseas transactions</a:t>
            </a:r>
          </a:p>
          <a:p>
            <a:pPr algn="l">
              <a:spcBef>
                <a:spcPts val="50"/>
              </a:spcBef>
              <a:buChar char="•"/>
            </a:pPr>
            <a:r>
              <a:rPr lang="en-US" dirty="0">
                <a:solidFill>
                  <a:srgbClr val="1B2838"/>
                </a:solidFill>
                <a:latin typeface="Calibri"/>
              </a:rPr>
              <a:t>H2H coverage expansion - USD RTGS, employee payments, FX transactions, utility bills</a:t>
            </a:r>
          </a:p>
          <a:p>
            <a:pPr algn="l">
              <a:spcBef>
                <a:spcPts val="50"/>
              </a:spcBef>
              <a:buChar char="•"/>
            </a:pPr>
            <a:r>
              <a:rPr lang="en-US" dirty="0">
                <a:solidFill>
                  <a:srgbClr val="1B2838"/>
                </a:solidFill>
                <a:latin typeface="Calibri"/>
              </a:rPr>
              <a:t>SAP inter-unit billing (STO) recognition in P&amp;L and Balance Sheet [KSI]</a:t>
            </a:r>
          </a:p>
          <a:p>
            <a:pPr algn="l">
              <a:spcBef>
                <a:spcPts val="50"/>
              </a:spcBef>
              <a:buChar char="•"/>
            </a:pPr>
            <a:r>
              <a:rPr lang="en-US" dirty="0">
                <a:solidFill>
                  <a:srgbClr val="1B2838"/>
                </a:solidFill>
                <a:latin typeface="Calibri"/>
              </a:rPr>
              <a:t>KPP management report vs SAP data alignment (Sales &amp; COGS differences)</a:t>
            </a:r>
          </a:p>
          <a:p>
            <a:pPr algn="l">
              <a:spcBef>
                <a:spcPts val="50"/>
              </a:spcBef>
              <a:buChar char="•"/>
            </a:pPr>
            <a:r>
              <a:rPr lang="en-US" dirty="0">
                <a:solidFill>
                  <a:srgbClr val="1B2838"/>
                </a:solidFill>
                <a:latin typeface="Calibri"/>
              </a:rPr>
              <a:t>Multi-vendor e-Accounting capability (GT team working on solution)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2000" b="1" dirty="0">
                <a:solidFill>
                  <a:srgbClr val="003366"/>
                </a:solidFill>
                <a:latin typeface="Calibri"/>
              </a:rPr>
              <a:t>Operational Improvements In Progress</a:t>
            </a:r>
          </a:p>
          <a:p>
            <a:pPr algn="l">
              <a:spcBef>
                <a:spcPts val="80"/>
              </a:spcBef>
              <a:buChar char="•"/>
            </a:pPr>
            <a:r>
              <a:rPr lang="en-US" dirty="0">
                <a:solidFill>
                  <a:srgbClr val="1B2838"/>
                </a:solidFill>
                <a:latin typeface="Calibri"/>
              </a:rPr>
              <a:t>Employee vendor registration in S4/HANA to achieve near-100% H2H adoption</a:t>
            </a:r>
          </a:p>
          <a:p>
            <a:pPr algn="l">
              <a:spcBef>
                <a:spcPts val="50"/>
              </a:spcBef>
              <a:buChar char="•"/>
            </a:pPr>
            <a:r>
              <a:rPr lang="en-US" dirty="0">
                <a:solidFill>
                  <a:srgbClr val="1B2838"/>
                </a:solidFill>
                <a:latin typeface="Calibri"/>
              </a:rPr>
              <a:t>Paperless document management - policy decision pending</a:t>
            </a:r>
          </a:p>
          <a:p>
            <a:pPr algn="l">
              <a:spcBef>
                <a:spcPts val="50"/>
              </a:spcBef>
              <a:buChar char="•"/>
            </a:pPr>
            <a:r>
              <a:rPr lang="en-US" dirty="0">
                <a:solidFill>
                  <a:srgbClr val="1B2838"/>
                </a:solidFill>
                <a:latin typeface="Calibri"/>
              </a:rPr>
              <a:t>Financial Statement restructuring - GT team ready, awaiting approval</a:t>
            </a:r>
          </a:p>
          <a:p>
            <a:pPr algn="l">
              <a:spcBef>
                <a:spcPts val="50"/>
              </a:spcBef>
              <a:buChar char="•"/>
            </a:pPr>
            <a:r>
              <a:rPr lang="en-US" dirty="0">
                <a:solidFill>
                  <a:srgbClr val="1B2838"/>
                </a:solidFill>
                <a:latin typeface="Calibri"/>
              </a:rPr>
              <a:t>FX Forward Booking operational since Jan 2026; FX SWAP under development</a:t>
            </a:r>
          </a:p>
          <a:p>
            <a:pPr algn="l">
              <a:spcBef>
                <a:spcPts val="50"/>
              </a:spcBef>
              <a:buChar char="•"/>
            </a:pPr>
            <a:r>
              <a:rPr lang="en-US" dirty="0">
                <a:solidFill>
                  <a:srgbClr val="1B2838"/>
                </a:solidFill>
                <a:latin typeface="Calibri"/>
              </a:rPr>
              <a:t>Duplicate payment prevention automation in SAP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2000" b="1" dirty="0">
                <a:solidFill>
                  <a:srgbClr val="003366"/>
                </a:solidFill>
                <a:latin typeface="Calibri"/>
              </a:rPr>
              <a:t>Next Steps</a:t>
            </a:r>
          </a:p>
          <a:p>
            <a:pPr algn="l">
              <a:spcBef>
                <a:spcPts val="80"/>
              </a:spcBef>
              <a:buChar char="•"/>
            </a:pPr>
            <a:r>
              <a:rPr lang="en-US" dirty="0">
                <a:solidFill>
                  <a:srgbClr val="1B2838"/>
                </a:solidFill>
                <a:latin typeface="Calibri"/>
              </a:rPr>
              <a:t>Continue GT team engagement for e-Accounting system enhancements</a:t>
            </a:r>
          </a:p>
          <a:p>
            <a:pPr algn="l">
              <a:spcBef>
                <a:spcPts val="50"/>
              </a:spcBef>
              <a:buChar char="•"/>
            </a:pPr>
            <a:r>
              <a:rPr lang="en-US" dirty="0">
                <a:solidFill>
                  <a:srgbClr val="1B2838"/>
                </a:solidFill>
                <a:latin typeface="Calibri"/>
              </a:rPr>
              <a:t>Formalize document retention and paperless policies</a:t>
            </a:r>
          </a:p>
          <a:p>
            <a:pPr algn="l">
              <a:spcBef>
                <a:spcPts val="50"/>
              </a:spcBef>
              <a:buChar char="•"/>
            </a:pPr>
            <a:r>
              <a:rPr lang="en-US" dirty="0">
                <a:solidFill>
                  <a:srgbClr val="1B2838"/>
                </a:solidFill>
                <a:latin typeface="Calibri"/>
              </a:rPr>
              <a:t>Bank engagement for H2H expansion (Woori Bank, utility billers)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pic>
        <p:nvPicPr>
          <p:cNvPr id="4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914400"/>
            <a:ext cx="2286000" cy="338667"/>
          </a:xfrm>
          <a:prstGeom prst="rect">
            <a:avLst/>
          </a:prstGeom>
        </p:spPr>
      </p:pic>
      <p:sp>
        <p:nvSpPr>
          <p:cNvPr id="6" name="Thanks"/>
          <p:cNvSpPr txBox="1"/>
          <p:nvPr/>
        </p:nvSpPr>
        <p:spPr>
          <a:xfrm>
            <a:off x="1828800" y="2286000"/>
            <a:ext cx="8503920" cy="3200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/>
              </a:rPr>
              <a:t>Thank You</a:t>
            </a:r>
          </a:p>
          <a:p>
            <a:pPr algn="ctr">
              <a:spcBef>
                <a:spcPts val="400"/>
              </a:spcBef>
              <a:buNone/>
            </a:pPr>
            <a:r>
              <a:rPr lang="en-US" sz="2400" b="1" dirty="0">
                <a:solidFill>
                  <a:srgbClr val="C8A951"/>
                </a:solidFill>
                <a:latin typeface="Calibri"/>
              </a:rPr>
              <a:t>Managing Responsibility with Excellence and Agility</a:t>
            </a:r>
          </a:p>
          <a:p>
            <a:pPr algn="ctr">
              <a:spcBef>
                <a:spcPts val="300"/>
              </a:spcBef>
              <a:buNone/>
            </a:pPr>
            <a:r>
              <a:rPr lang="en-US" sz="2000" b="1" dirty="0">
                <a:solidFill>
                  <a:srgbClr val="FFFFFF"/>
                </a:solidFill>
                <a:latin typeface="Calibri"/>
              </a:rPr>
              <a:t>Youngone Bangladesh - Accounts &amp; Finance Team</a:t>
            </a:r>
          </a:p>
          <a:p>
            <a:pPr algn="ctr">
              <a:spcBef>
                <a:spcPts val="150"/>
              </a:spcBef>
              <a:buNone/>
            </a:pPr>
            <a:r>
              <a:rPr lang="en-US" b="1" dirty="0">
                <a:solidFill>
                  <a:srgbClr val="FFFFFF"/>
                </a:solidFill>
                <a:latin typeface="Calibri"/>
              </a:rPr>
              <a:t>FY26 Regional Accounting &amp; Finance Conference</a:t>
            </a:r>
          </a:p>
          <a:p>
            <a:pPr algn="ctr">
              <a:spcBef>
                <a:spcPts val="100"/>
              </a:spcBef>
              <a:buNone/>
            </a:pPr>
            <a:r>
              <a:rPr lang="en-US" b="1" dirty="0">
                <a:solidFill>
                  <a:srgbClr val="FFFFFF"/>
                </a:solidFill>
                <a:latin typeface="Calibri"/>
              </a:rPr>
              <a:t>18-20 August 2026 | Korea HQ</a:t>
            </a:r>
            <a:endParaRPr lang="en-US" sz="1200" b="1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Youngone">
  <a:themeElements>
    <a:clrScheme name="Youngone">
      <a:dk1>
        <a:srgbClr val="1B2838"/>
      </a:dk1>
      <a:lt1>
        <a:srgbClr val="FFFFFF"/>
      </a:lt1>
      <a:dk2>
        <a:srgbClr val="003366"/>
      </a:dk2>
      <a:lt2>
        <a:srgbClr val="F5F7FA"/>
      </a:lt2>
      <a:accent1>
        <a:srgbClr val="003366"/>
      </a:accent1>
      <a:accent2>
        <a:srgbClr val="C8A951"/>
      </a:accent2>
      <a:accent3>
        <a:srgbClr val="2E7D32"/>
      </a:accent3>
      <a:accent4>
        <a:srgbClr val="4472C4"/>
      </a:accent4>
      <a:accent5>
        <a:srgbClr val="ED7D31"/>
      </a:accent5>
      <a:accent6>
        <a:srgbClr val="70AD47"/>
      </a:accent6>
      <a:hlink>
        <a:srgbClr val="0563C1"/>
      </a:hlink>
      <a:folHlink>
        <a:srgbClr val="954F72"/>
      </a:folHlink>
    </a:clrScheme>
    <a:fontScheme name="Youngon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2340</Words>
  <Application>Microsoft Office PowerPoint</Application>
  <PresentationFormat>Widescreen</PresentationFormat>
  <Paragraphs>208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Youngone</vt:lpstr>
      <vt:lpstr>PowerPoint Presentation</vt:lpstr>
      <vt:lpstr>Your best quote that reflects your approach… “It’s one small step for man, one giant leap for mankind.”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Youngone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FY26 Regional Accounting and Finance Conference - Youngone Bangladesh</dc:title>
  <dc:creator>Youngone Bangladesh Accounts and Finance Team</dc:creator>
  <cp:lastModifiedBy>hasan70</cp:lastModifiedBy>
  <cp:revision>20</cp:revision>
  <dcterms:created xsi:type="dcterms:W3CDTF">2026-08-02T00:00:00Z</dcterms:created>
  <dcterms:modified xsi:type="dcterms:W3CDTF">2026-08-08T06:15:23Z</dcterms:modified>
</cp:coreProperties>
</file>